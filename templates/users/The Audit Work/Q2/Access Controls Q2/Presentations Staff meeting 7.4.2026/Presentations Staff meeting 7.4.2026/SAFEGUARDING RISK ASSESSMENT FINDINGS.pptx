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8" r:id="rId3"/>
    <p:sldId id="257" r:id="rId4"/>
    <p:sldId id="259" r:id="rId5"/>
    <p:sldId id="264" r:id="rId6"/>
    <p:sldId id="260" r:id="rId7"/>
    <p:sldId id="261" r:id="rId8"/>
    <p:sldId id="266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F5944-305A-E973-3448-B1EE04F74DCD}" v="719" dt="2026-04-07T08:01:53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725EF4-E044-43E6-BA53-2748B90ACF0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278698-08C7-4076-A089-45988DC5C3C8}">
      <dgm:prSet/>
      <dgm:spPr/>
      <dgm:t>
        <a:bodyPr/>
        <a:lstStyle/>
        <a:p>
          <a:r>
            <a:rPr lang="en-US"/>
            <a:t>Identify and prioritize safeguarding risks, including SEAH and child safeguarding risks, across KRCSS branches</a:t>
          </a:r>
        </a:p>
      </dgm:t>
    </dgm:pt>
    <dgm:pt modelId="{81A54B59-0B1C-4C41-915B-F29D27D49D27}" type="parTrans" cxnId="{77D0BD04-9A22-4FD1-8E0C-96772C0EA0D0}">
      <dgm:prSet/>
      <dgm:spPr/>
      <dgm:t>
        <a:bodyPr/>
        <a:lstStyle/>
        <a:p>
          <a:endParaRPr lang="en-US"/>
        </a:p>
      </dgm:t>
    </dgm:pt>
    <dgm:pt modelId="{6B225388-BB01-4719-8BF9-742492B24A57}" type="sibTrans" cxnId="{77D0BD04-9A22-4FD1-8E0C-96772C0EA0D0}">
      <dgm:prSet/>
      <dgm:spPr/>
      <dgm:t>
        <a:bodyPr/>
        <a:lstStyle/>
        <a:p>
          <a:endParaRPr lang="en-US"/>
        </a:p>
      </dgm:t>
    </dgm:pt>
    <dgm:pt modelId="{53E56B42-C8B4-4643-815A-4407CAE72510}">
      <dgm:prSet/>
      <dgm:spPr/>
      <dgm:t>
        <a:bodyPr/>
        <a:lstStyle/>
        <a:p>
          <a:r>
            <a:rPr lang="en-US"/>
            <a:t>Evaluate the effectiveness of existing safeguarding structures against internationally recognized safeguarding standards</a:t>
          </a:r>
        </a:p>
      </dgm:t>
    </dgm:pt>
    <dgm:pt modelId="{97D7B4D0-D0DD-45F7-AC05-42359378D7F1}" type="parTrans" cxnId="{F7E10C9C-C1ED-431D-9B49-90484DB23385}">
      <dgm:prSet/>
      <dgm:spPr/>
      <dgm:t>
        <a:bodyPr/>
        <a:lstStyle/>
        <a:p>
          <a:endParaRPr lang="en-US"/>
        </a:p>
      </dgm:t>
    </dgm:pt>
    <dgm:pt modelId="{249AD2B9-2DDC-4B52-B50B-1E90214EBB77}" type="sibTrans" cxnId="{F7E10C9C-C1ED-431D-9B49-90484DB23385}">
      <dgm:prSet/>
      <dgm:spPr/>
      <dgm:t>
        <a:bodyPr/>
        <a:lstStyle/>
        <a:p>
          <a:endParaRPr lang="en-US"/>
        </a:p>
      </dgm:t>
    </dgm:pt>
    <dgm:pt modelId="{685B5500-2EB1-4B44-AAD5-8BAA29AD68B0}">
      <dgm:prSet/>
      <dgm:spPr/>
      <dgm:t>
        <a:bodyPr/>
        <a:lstStyle/>
        <a:p>
          <a:r>
            <a:rPr lang="en-US"/>
            <a:t>Assess branch-compliance level with organizational safeguarding policies and donor safeguarding requirements</a:t>
          </a:r>
        </a:p>
      </dgm:t>
    </dgm:pt>
    <dgm:pt modelId="{7FC7CDBE-E0F4-45A7-83B4-F103F6CA615A}" type="parTrans" cxnId="{2ABF8240-1E65-4F4D-BB90-1B2A2C4404B9}">
      <dgm:prSet/>
      <dgm:spPr/>
      <dgm:t>
        <a:bodyPr/>
        <a:lstStyle/>
        <a:p>
          <a:endParaRPr lang="en-US"/>
        </a:p>
      </dgm:t>
    </dgm:pt>
    <dgm:pt modelId="{6F3D33E6-9D44-4DC0-8A92-2B0F2AC59BD4}" type="sibTrans" cxnId="{2ABF8240-1E65-4F4D-BB90-1B2A2C4404B9}">
      <dgm:prSet/>
      <dgm:spPr/>
      <dgm:t>
        <a:bodyPr/>
        <a:lstStyle/>
        <a:p>
          <a:endParaRPr lang="en-US"/>
        </a:p>
      </dgm:t>
    </dgm:pt>
    <dgm:pt modelId="{5C382E0D-312C-4878-A732-4F236AF68691}">
      <dgm:prSet/>
      <dgm:spPr/>
      <dgm:t>
        <a:bodyPr/>
        <a:lstStyle/>
        <a:p>
          <a:r>
            <a:rPr lang="en-US"/>
            <a:t>Establish capacity gaps in prevention, reporting, and response mechanisms</a:t>
          </a:r>
        </a:p>
      </dgm:t>
    </dgm:pt>
    <dgm:pt modelId="{B1E6C9EC-EE2E-41C4-9F89-71B1B6EAF2CB}" type="parTrans" cxnId="{7A662175-28FD-46EF-8319-8AB1FEFFEAC3}">
      <dgm:prSet/>
      <dgm:spPr/>
      <dgm:t>
        <a:bodyPr/>
        <a:lstStyle/>
        <a:p>
          <a:endParaRPr lang="en-US"/>
        </a:p>
      </dgm:t>
    </dgm:pt>
    <dgm:pt modelId="{7B1E8516-F0B4-4068-A7D8-7F56EBF3196C}" type="sibTrans" cxnId="{7A662175-28FD-46EF-8319-8AB1FEFFEAC3}">
      <dgm:prSet/>
      <dgm:spPr/>
      <dgm:t>
        <a:bodyPr/>
        <a:lstStyle/>
        <a:p>
          <a:endParaRPr lang="en-US"/>
        </a:p>
      </dgm:t>
    </dgm:pt>
    <dgm:pt modelId="{01599F12-B163-44AF-9EE8-FDFA84E1101D}">
      <dgm:prSet/>
      <dgm:spPr/>
      <dgm:t>
        <a:bodyPr/>
        <a:lstStyle/>
        <a:p>
          <a:r>
            <a:rPr lang="en-US"/>
            <a:t>Establish a baseline for measuring safeguarding maturity improvements over time</a:t>
          </a:r>
        </a:p>
      </dgm:t>
    </dgm:pt>
    <dgm:pt modelId="{4B4B7C9E-77FA-4E2D-A35F-A7E0E3899A0B}" type="parTrans" cxnId="{A3E92235-FEBA-423A-8F63-CA768326E408}">
      <dgm:prSet/>
      <dgm:spPr/>
      <dgm:t>
        <a:bodyPr/>
        <a:lstStyle/>
        <a:p>
          <a:endParaRPr lang="en-US"/>
        </a:p>
      </dgm:t>
    </dgm:pt>
    <dgm:pt modelId="{CB2B47AC-29ED-4358-BC08-C354C4987A08}" type="sibTrans" cxnId="{A3E92235-FEBA-423A-8F63-CA768326E408}">
      <dgm:prSet/>
      <dgm:spPr/>
      <dgm:t>
        <a:bodyPr/>
        <a:lstStyle/>
        <a:p>
          <a:endParaRPr lang="en-US"/>
        </a:p>
      </dgm:t>
    </dgm:pt>
    <dgm:pt modelId="{B732A161-F1B7-44FD-9373-DCE5E4A262FC}">
      <dgm:prSet/>
      <dgm:spPr/>
      <dgm:t>
        <a:bodyPr/>
        <a:lstStyle/>
        <a:p>
          <a:r>
            <a:rPr lang="en-US"/>
            <a:t>Inform prioritization and resourcing decisions for Quarter 1–2 </a:t>
          </a:r>
        </a:p>
      </dgm:t>
    </dgm:pt>
    <dgm:pt modelId="{DCA413E1-A07D-44B1-81DD-E758260EA65B}" type="parTrans" cxnId="{D1EC95AA-24BE-421C-BF3F-04994AC2FE69}">
      <dgm:prSet/>
      <dgm:spPr/>
      <dgm:t>
        <a:bodyPr/>
        <a:lstStyle/>
        <a:p>
          <a:endParaRPr lang="en-US"/>
        </a:p>
      </dgm:t>
    </dgm:pt>
    <dgm:pt modelId="{897F2A57-66E4-4D91-B774-3C999429E3F1}" type="sibTrans" cxnId="{D1EC95AA-24BE-421C-BF3F-04994AC2FE69}">
      <dgm:prSet/>
      <dgm:spPr/>
      <dgm:t>
        <a:bodyPr/>
        <a:lstStyle/>
        <a:p>
          <a:endParaRPr lang="en-US"/>
        </a:p>
      </dgm:t>
    </dgm:pt>
    <dgm:pt modelId="{709E95B8-E9EB-4D41-8855-ADEEF9291D04}" type="pres">
      <dgm:prSet presAssocID="{B5725EF4-E044-43E6-BA53-2748B90ACF09}" presName="Name0" presStyleCnt="0">
        <dgm:presLayoutVars>
          <dgm:dir/>
          <dgm:resizeHandles val="exact"/>
        </dgm:presLayoutVars>
      </dgm:prSet>
      <dgm:spPr/>
    </dgm:pt>
    <dgm:pt modelId="{FC13841B-574D-4CDD-BA39-EFA22AD013F0}" type="pres">
      <dgm:prSet presAssocID="{F9278698-08C7-4076-A089-45988DC5C3C8}" presName="node" presStyleLbl="node1" presStyleIdx="0" presStyleCnt="6">
        <dgm:presLayoutVars>
          <dgm:bulletEnabled val="1"/>
        </dgm:presLayoutVars>
      </dgm:prSet>
      <dgm:spPr/>
    </dgm:pt>
    <dgm:pt modelId="{7C76F370-DE60-4D0A-B6BA-411BED27C616}" type="pres">
      <dgm:prSet presAssocID="{6B225388-BB01-4719-8BF9-742492B24A57}" presName="sibTrans" presStyleLbl="sibTrans1D1" presStyleIdx="0" presStyleCnt="5"/>
      <dgm:spPr/>
    </dgm:pt>
    <dgm:pt modelId="{BA493831-1508-40B3-AE09-DA43A6D69FC8}" type="pres">
      <dgm:prSet presAssocID="{6B225388-BB01-4719-8BF9-742492B24A57}" presName="connectorText" presStyleLbl="sibTrans1D1" presStyleIdx="0" presStyleCnt="5"/>
      <dgm:spPr/>
    </dgm:pt>
    <dgm:pt modelId="{57F77087-74FD-499A-9A4D-41B938CA7236}" type="pres">
      <dgm:prSet presAssocID="{53E56B42-C8B4-4643-815A-4407CAE72510}" presName="node" presStyleLbl="node1" presStyleIdx="1" presStyleCnt="6">
        <dgm:presLayoutVars>
          <dgm:bulletEnabled val="1"/>
        </dgm:presLayoutVars>
      </dgm:prSet>
      <dgm:spPr/>
    </dgm:pt>
    <dgm:pt modelId="{B404675C-0921-49C0-8CB7-5270EAFC3B60}" type="pres">
      <dgm:prSet presAssocID="{249AD2B9-2DDC-4B52-B50B-1E90214EBB77}" presName="sibTrans" presStyleLbl="sibTrans1D1" presStyleIdx="1" presStyleCnt="5"/>
      <dgm:spPr/>
    </dgm:pt>
    <dgm:pt modelId="{222B3289-F8EB-4F7E-A27B-8FB026AA546B}" type="pres">
      <dgm:prSet presAssocID="{249AD2B9-2DDC-4B52-B50B-1E90214EBB77}" presName="connectorText" presStyleLbl="sibTrans1D1" presStyleIdx="1" presStyleCnt="5"/>
      <dgm:spPr/>
    </dgm:pt>
    <dgm:pt modelId="{1C1D0396-BCC7-42DF-B2EA-D76FDB993129}" type="pres">
      <dgm:prSet presAssocID="{685B5500-2EB1-4B44-AAD5-8BAA29AD68B0}" presName="node" presStyleLbl="node1" presStyleIdx="2" presStyleCnt="6">
        <dgm:presLayoutVars>
          <dgm:bulletEnabled val="1"/>
        </dgm:presLayoutVars>
      </dgm:prSet>
      <dgm:spPr/>
    </dgm:pt>
    <dgm:pt modelId="{9A93C371-733D-4649-82CA-E121270707AC}" type="pres">
      <dgm:prSet presAssocID="{6F3D33E6-9D44-4DC0-8A92-2B0F2AC59BD4}" presName="sibTrans" presStyleLbl="sibTrans1D1" presStyleIdx="2" presStyleCnt="5"/>
      <dgm:spPr/>
    </dgm:pt>
    <dgm:pt modelId="{A1D6E596-D445-4426-AF67-3A146DF80D8B}" type="pres">
      <dgm:prSet presAssocID="{6F3D33E6-9D44-4DC0-8A92-2B0F2AC59BD4}" presName="connectorText" presStyleLbl="sibTrans1D1" presStyleIdx="2" presStyleCnt="5"/>
      <dgm:spPr/>
    </dgm:pt>
    <dgm:pt modelId="{49188D9C-F216-4D4C-BD4B-D44D70261C72}" type="pres">
      <dgm:prSet presAssocID="{5C382E0D-312C-4878-A732-4F236AF68691}" presName="node" presStyleLbl="node1" presStyleIdx="3" presStyleCnt="6">
        <dgm:presLayoutVars>
          <dgm:bulletEnabled val="1"/>
        </dgm:presLayoutVars>
      </dgm:prSet>
      <dgm:spPr/>
    </dgm:pt>
    <dgm:pt modelId="{2A0DDD02-60D7-478F-B45F-36A8E3F8F88C}" type="pres">
      <dgm:prSet presAssocID="{7B1E8516-F0B4-4068-A7D8-7F56EBF3196C}" presName="sibTrans" presStyleLbl="sibTrans1D1" presStyleIdx="3" presStyleCnt="5"/>
      <dgm:spPr/>
    </dgm:pt>
    <dgm:pt modelId="{91F4E40D-5760-498A-88B9-BEEEFF62CFB3}" type="pres">
      <dgm:prSet presAssocID="{7B1E8516-F0B4-4068-A7D8-7F56EBF3196C}" presName="connectorText" presStyleLbl="sibTrans1D1" presStyleIdx="3" presStyleCnt="5"/>
      <dgm:spPr/>
    </dgm:pt>
    <dgm:pt modelId="{B29A3980-6EC5-4A35-8233-A9AF0454DFC2}" type="pres">
      <dgm:prSet presAssocID="{01599F12-B163-44AF-9EE8-FDFA84E1101D}" presName="node" presStyleLbl="node1" presStyleIdx="4" presStyleCnt="6">
        <dgm:presLayoutVars>
          <dgm:bulletEnabled val="1"/>
        </dgm:presLayoutVars>
      </dgm:prSet>
      <dgm:spPr/>
    </dgm:pt>
    <dgm:pt modelId="{8DB8C95A-CCFA-4B2A-9919-3374A5816E89}" type="pres">
      <dgm:prSet presAssocID="{CB2B47AC-29ED-4358-BC08-C354C4987A08}" presName="sibTrans" presStyleLbl="sibTrans1D1" presStyleIdx="4" presStyleCnt="5"/>
      <dgm:spPr/>
    </dgm:pt>
    <dgm:pt modelId="{3CA78369-5A89-4AA8-934A-17E07BCA2AF3}" type="pres">
      <dgm:prSet presAssocID="{CB2B47AC-29ED-4358-BC08-C354C4987A08}" presName="connectorText" presStyleLbl="sibTrans1D1" presStyleIdx="4" presStyleCnt="5"/>
      <dgm:spPr/>
    </dgm:pt>
    <dgm:pt modelId="{2765BD18-9068-4FAE-8128-617A6A163833}" type="pres">
      <dgm:prSet presAssocID="{B732A161-F1B7-44FD-9373-DCE5E4A262FC}" presName="node" presStyleLbl="node1" presStyleIdx="5" presStyleCnt="6">
        <dgm:presLayoutVars>
          <dgm:bulletEnabled val="1"/>
        </dgm:presLayoutVars>
      </dgm:prSet>
      <dgm:spPr/>
    </dgm:pt>
  </dgm:ptLst>
  <dgm:cxnLst>
    <dgm:cxn modelId="{CC589D02-2EFB-412B-8690-656B6A0112FF}" type="presOf" srcId="{53E56B42-C8B4-4643-815A-4407CAE72510}" destId="{57F77087-74FD-499A-9A4D-41B938CA7236}" srcOrd="0" destOrd="0" presId="urn:microsoft.com/office/officeart/2016/7/layout/RepeatingBendingProcessNew"/>
    <dgm:cxn modelId="{77D0BD04-9A22-4FD1-8E0C-96772C0EA0D0}" srcId="{B5725EF4-E044-43E6-BA53-2748B90ACF09}" destId="{F9278698-08C7-4076-A089-45988DC5C3C8}" srcOrd="0" destOrd="0" parTransId="{81A54B59-0B1C-4C41-915B-F29D27D49D27}" sibTransId="{6B225388-BB01-4719-8BF9-742492B24A57}"/>
    <dgm:cxn modelId="{4F8A6807-1EE9-4FAA-B0F0-30B07951F514}" type="presOf" srcId="{01599F12-B163-44AF-9EE8-FDFA84E1101D}" destId="{B29A3980-6EC5-4A35-8233-A9AF0454DFC2}" srcOrd="0" destOrd="0" presId="urn:microsoft.com/office/officeart/2016/7/layout/RepeatingBendingProcessNew"/>
    <dgm:cxn modelId="{BA711F12-1D40-4D53-BB4D-57FA28EB4F80}" type="presOf" srcId="{7B1E8516-F0B4-4068-A7D8-7F56EBF3196C}" destId="{91F4E40D-5760-498A-88B9-BEEEFF62CFB3}" srcOrd="1" destOrd="0" presId="urn:microsoft.com/office/officeart/2016/7/layout/RepeatingBendingProcessNew"/>
    <dgm:cxn modelId="{8891CB2B-029D-4E90-A657-7CEF72D1A2D2}" type="presOf" srcId="{685B5500-2EB1-4B44-AAD5-8BAA29AD68B0}" destId="{1C1D0396-BCC7-42DF-B2EA-D76FDB993129}" srcOrd="0" destOrd="0" presId="urn:microsoft.com/office/officeart/2016/7/layout/RepeatingBendingProcessNew"/>
    <dgm:cxn modelId="{A3E92235-FEBA-423A-8F63-CA768326E408}" srcId="{B5725EF4-E044-43E6-BA53-2748B90ACF09}" destId="{01599F12-B163-44AF-9EE8-FDFA84E1101D}" srcOrd="4" destOrd="0" parTransId="{4B4B7C9E-77FA-4E2D-A35F-A7E0E3899A0B}" sibTransId="{CB2B47AC-29ED-4358-BC08-C354C4987A08}"/>
    <dgm:cxn modelId="{2ABF8240-1E65-4F4D-BB90-1B2A2C4404B9}" srcId="{B5725EF4-E044-43E6-BA53-2748B90ACF09}" destId="{685B5500-2EB1-4B44-AAD5-8BAA29AD68B0}" srcOrd="2" destOrd="0" parTransId="{7FC7CDBE-E0F4-45A7-83B4-F103F6CA615A}" sibTransId="{6F3D33E6-9D44-4DC0-8A92-2B0F2AC59BD4}"/>
    <dgm:cxn modelId="{41746168-C0F9-4E34-AF7E-336F4DBCC7DB}" type="presOf" srcId="{CB2B47AC-29ED-4358-BC08-C354C4987A08}" destId="{3CA78369-5A89-4AA8-934A-17E07BCA2AF3}" srcOrd="1" destOrd="0" presId="urn:microsoft.com/office/officeart/2016/7/layout/RepeatingBendingProcessNew"/>
    <dgm:cxn modelId="{7A662175-28FD-46EF-8319-8AB1FEFFEAC3}" srcId="{B5725EF4-E044-43E6-BA53-2748B90ACF09}" destId="{5C382E0D-312C-4878-A732-4F236AF68691}" srcOrd="3" destOrd="0" parTransId="{B1E6C9EC-EE2E-41C4-9F89-71B1B6EAF2CB}" sibTransId="{7B1E8516-F0B4-4068-A7D8-7F56EBF3196C}"/>
    <dgm:cxn modelId="{FD783E78-ED20-4082-926A-70B4D49402B7}" type="presOf" srcId="{6F3D33E6-9D44-4DC0-8A92-2B0F2AC59BD4}" destId="{A1D6E596-D445-4426-AF67-3A146DF80D8B}" srcOrd="1" destOrd="0" presId="urn:microsoft.com/office/officeart/2016/7/layout/RepeatingBendingProcessNew"/>
    <dgm:cxn modelId="{1F5BC68F-8381-42DB-A32F-1ABC1C860455}" type="presOf" srcId="{F9278698-08C7-4076-A089-45988DC5C3C8}" destId="{FC13841B-574D-4CDD-BA39-EFA22AD013F0}" srcOrd="0" destOrd="0" presId="urn:microsoft.com/office/officeart/2016/7/layout/RepeatingBendingProcessNew"/>
    <dgm:cxn modelId="{DA8FDC91-32A2-41F7-A24F-F35164F35F97}" type="presOf" srcId="{B732A161-F1B7-44FD-9373-DCE5E4A262FC}" destId="{2765BD18-9068-4FAE-8128-617A6A163833}" srcOrd="0" destOrd="0" presId="urn:microsoft.com/office/officeart/2016/7/layout/RepeatingBendingProcessNew"/>
    <dgm:cxn modelId="{F7E10C9C-C1ED-431D-9B49-90484DB23385}" srcId="{B5725EF4-E044-43E6-BA53-2748B90ACF09}" destId="{53E56B42-C8B4-4643-815A-4407CAE72510}" srcOrd="1" destOrd="0" parTransId="{97D7B4D0-D0DD-45F7-AC05-42359378D7F1}" sibTransId="{249AD2B9-2DDC-4B52-B50B-1E90214EBB77}"/>
    <dgm:cxn modelId="{A7FF67A4-082B-4E25-A110-04BB9758E651}" type="presOf" srcId="{6B225388-BB01-4719-8BF9-742492B24A57}" destId="{BA493831-1508-40B3-AE09-DA43A6D69FC8}" srcOrd="1" destOrd="0" presId="urn:microsoft.com/office/officeart/2016/7/layout/RepeatingBendingProcessNew"/>
    <dgm:cxn modelId="{C14CD7A7-986A-4772-8CFE-B0C23FE4E1F0}" type="presOf" srcId="{6F3D33E6-9D44-4DC0-8A92-2B0F2AC59BD4}" destId="{9A93C371-733D-4649-82CA-E121270707AC}" srcOrd="0" destOrd="0" presId="urn:microsoft.com/office/officeart/2016/7/layout/RepeatingBendingProcessNew"/>
    <dgm:cxn modelId="{D1EC95AA-24BE-421C-BF3F-04994AC2FE69}" srcId="{B5725EF4-E044-43E6-BA53-2748B90ACF09}" destId="{B732A161-F1B7-44FD-9373-DCE5E4A262FC}" srcOrd="5" destOrd="0" parTransId="{DCA413E1-A07D-44B1-81DD-E758260EA65B}" sibTransId="{897F2A57-66E4-4D91-B774-3C999429E3F1}"/>
    <dgm:cxn modelId="{2F07B6BB-7E48-4C42-84E3-2E8618CBD3C1}" type="presOf" srcId="{7B1E8516-F0B4-4068-A7D8-7F56EBF3196C}" destId="{2A0DDD02-60D7-478F-B45F-36A8E3F8F88C}" srcOrd="0" destOrd="0" presId="urn:microsoft.com/office/officeart/2016/7/layout/RepeatingBendingProcessNew"/>
    <dgm:cxn modelId="{D97337BE-01A7-48B6-9D73-2040868D6DA1}" type="presOf" srcId="{B5725EF4-E044-43E6-BA53-2748B90ACF09}" destId="{709E95B8-E9EB-4D41-8855-ADEEF9291D04}" srcOrd="0" destOrd="0" presId="urn:microsoft.com/office/officeart/2016/7/layout/RepeatingBendingProcessNew"/>
    <dgm:cxn modelId="{675897CD-0A1D-4280-B1F9-351613A0F1CC}" type="presOf" srcId="{6B225388-BB01-4719-8BF9-742492B24A57}" destId="{7C76F370-DE60-4D0A-B6BA-411BED27C616}" srcOrd="0" destOrd="0" presId="urn:microsoft.com/office/officeart/2016/7/layout/RepeatingBendingProcessNew"/>
    <dgm:cxn modelId="{35242ADD-9990-4C0B-A5DD-897FA72E346F}" type="presOf" srcId="{5C382E0D-312C-4878-A732-4F236AF68691}" destId="{49188D9C-F216-4D4C-BD4B-D44D70261C72}" srcOrd="0" destOrd="0" presId="urn:microsoft.com/office/officeart/2016/7/layout/RepeatingBendingProcessNew"/>
    <dgm:cxn modelId="{93ADD9E6-9E08-4E83-9020-3C47E93C8BBF}" type="presOf" srcId="{249AD2B9-2DDC-4B52-B50B-1E90214EBB77}" destId="{B404675C-0921-49C0-8CB7-5270EAFC3B60}" srcOrd="0" destOrd="0" presId="urn:microsoft.com/office/officeart/2016/7/layout/RepeatingBendingProcessNew"/>
    <dgm:cxn modelId="{F477A1EE-BB4C-413F-8F07-EE261EE9B525}" type="presOf" srcId="{249AD2B9-2DDC-4B52-B50B-1E90214EBB77}" destId="{222B3289-F8EB-4F7E-A27B-8FB026AA546B}" srcOrd="1" destOrd="0" presId="urn:microsoft.com/office/officeart/2016/7/layout/RepeatingBendingProcessNew"/>
    <dgm:cxn modelId="{BD08CDFC-A23B-4E44-A72D-E5DDF6451659}" type="presOf" srcId="{CB2B47AC-29ED-4358-BC08-C354C4987A08}" destId="{8DB8C95A-CCFA-4B2A-9919-3374A5816E89}" srcOrd="0" destOrd="0" presId="urn:microsoft.com/office/officeart/2016/7/layout/RepeatingBendingProcessNew"/>
    <dgm:cxn modelId="{F6FF0420-68C1-483B-B955-8A16172F605B}" type="presParOf" srcId="{709E95B8-E9EB-4D41-8855-ADEEF9291D04}" destId="{FC13841B-574D-4CDD-BA39-EFA22AD013F0}" srcOrd="0" destOrd="0" presId="urn:microsoft.com/office/officeart/2016/7/layout/RepeatingBendingProcessNew"/>
    <dgm:cxn modelId="{29A80337-DC96-4216-A354-1FA81EEA85A8}" type="presParOf" srcId="{709E95B8-E9EB-4D41-8855-ADEEF9291D04}" destId="{7C76F370-DE60-4D0A-B6BA-411BED27C616}" srcOrd="1" destOrd="0" presId="urn:microsoft.com/office/officeart/2016/7/layout/RepeatingBendingProcessNew"/>
    <dgm:cxn modelId="{715F3BA5-371F-4D68-AF1A-293E37D0717F}" type="presParOf" srcId="{7C76F370-DE60-4D0A-B6BA-411BED27C616}" destId="{BA493831-1508-40B3-AE09-DA43A6D69FC8}" srcOrd="0" destOrd="0" presId="urn:microsoft.com/office/officeart/2016/7/layout/RepeatingBendingProcessNew"/>
    <dgm:cxn modelId="{75B09AD2-3E72-4293-B82F-BF1F70A7CEA9}" type="presParOf" srcId="{709E95B8-E9EB-4D41-8855-ADEEF9291D04}" destId="{57F77087-74FD-499A-9A4D-41B938CA7236}" srcOrd="2" destOrd="0" presId="urn:microsoft.com/office/officeart/2016/7/layout/RepeatingBendingProcessNew"/>
    <dgm:cxn modelId="{0326397A-0BEF-40E8-AEBE-61F0A5C12CDF}" type="presParOf" srcId="{709E95B8-E9EB-4D41-8855-ADEEF9291D04}" destId="{B404675C-0921-49C0-8CB7-5270EAFC3B60}" srcOrd="3" destOrd="0" presId="urn:microsoft.com/office/officeart/2016/7/layout/RepeatingBendingProcessNew"/>
    <dgm:cxn modelId="{DBE2FBE6-ED7A-4306-8330-E7CA8FCFD0A5}" type="presParOf" srcId="{B404675C-0921-49C0-8CB7-5270EAFC3B60}" destId="{222B3289-F8EB-4F7E-A27B-8FB026AA546B}" srcOrd="0" destOrd="0" presId="urn:microsoft.com/office/officeart/2016/7/layout/RepeatingBendingProcessNew"/>
    <dgm:cxn modelId="{C4697D29-F5B0-4731-A3F8-D0B9D90BB748}" type="presParOf" srcId="{709E95B8-E9EB-4D41-8855-ADEEF9291D04}" destId="{1C1D0396-BCC7-42DF-B2EA-D76FDB993129}" srcOrd="4" destOrd="0" presId="urn:microsoft.com/office/officeart/2016/7/layout/RepeatingBendingProcessNew"/>
    <dgm:cxn modelId="{71F70C3A-48F5-4D69-81AD-0CF3AE689BB9}" type="presParOf" srcId="{709E95B8-E9EB-4D41-8855-ADEEF9291D04}" destId="{9A93C371-733D-4649-82CA-E121270707AC}" srcOrd="5" destOrd="0" presId="urn:microsoft.com/office/officeart/2016/7/layout/RepeatingBendingProcessNew"/>
    <dgm:cxn modelId="{0184D0E0-7DD9-4633-983E-F9902687EBA6}" type="presParOf" srcId="{9A93C371-733D-4649-82CA-E121270707AC}" destId="{A1D6E596-D445-4426-AF67-3A146DF80D8B}" srcOrd="0" destOrd="0" presId="urn:microsoft.com/office/officeart/2016/7/layout/RepeatingBendingProcessNew"/>
    <dgm:cxn modelId="{E9A127C7-CCF9-461D-9727-DE559C098880}" type="presParOf" srcId="{709E95B8-E9EB-4D41-8855-ADEEF9291D04}" destId="{49188D9C-F216-4D4C-BD4B-D44D70261C72}" srcOrd="6" destOrd="0" presId="urn:microsoft.com/office/officeart/2016/7/layout/RepeatingBendingProcessNew"/>
    <dgm:cxn modelId="{BB8ABA21-C580-4FB1-B8E5-DE6BDC44695A}" type="presParOf" srcId="{709E95B8-E9EB-4D41-8855-ADEEF9291D04}" destId="{2A0DDD02-60D7-478F-B45F-36A8E3F8F88C}" srcOrd="7" destOrd="0" presId="urn:microsoft.com/office/officeart/2016/7/layout/RepeatingBendingProcessNew"/>
    <dgm:cxn modelId="{978B0062-69B4-4328-BA3E-A29249F304BD}" type="presParOf" srcId="{2A0DDD02-60D7-478F-B45F-36A8E3F8F88C}" destId="{91F4E40D-5760-498A-88B9-BEEEFF62CFB3}" srcOrd="0" destOrd="0" presId="urn:microsoft.com/office/officeart/2016/7/layout/RepeatingBendingProcessNew"/>
    <dgm:cxn modelId="{2662163B-E995-4765-8357-BC0B93A2B25B}" type="presParOf" srcId="{709E95B8-E9EB-4D41-8855-ADEEF9291D04}" destId="{B29A3980-6EC5-4A35-8233-A9AF0454DFC2}" srcOrd="8" destOrd="0" presId="urn:microsoft.com/office/officeart/2016/7/layout/RepeatingBendingProcessNew"/>
    <dgm:cxn modelId="{9A18091A-180B-4F76-80A1-93E39E5FF0E6}" type="presParOf" srcId="{709E95B8-E9EB-4D41-8855-ADEEF9291D04}" destId="{8DB8C95A-CCFA-4B2A-9919-3374A5816E89}" srcOrd="9" destOrd="0" presId="urn:microsoft.com/office/officeart/2016/7/layout/RepeatingBendingProcessNew"/>
    <dgm:cxn modelId="{974B0FCB-A137-4313-B638-F4A2E5724216}" type="presParOf" srcId="{8DB8C95A-CCFA-4B2A-9919-3374A5816E89}" destId="{3CA78369-5A89-4AA8-934A-17E07BCA2AF3}" srcOrd="0" destOrd="0" presId="urn:microsoft.com/office/officeart/2016/7/layout/RepeatingBendingProcessNew"/>
    <dgm:cxn modelId="{C2CFFC20-741A-497D-95DE-A84534AEA9DA}" type="presParOf" srcId="{709E95B8-E9EB-4D41-8855-ADEEF9291D04}" destId="{2765BD18-9068-4FAE-8128-617A6A16383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98749-E588-4C2C-9BAC-7B1EE38DDE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131315-89AF-430A-98BB-0523292D6D66}">
      <dgm:prSet/>
      <dgm:spPr/>
      <dgm:t>
        <a:bodyPr/>
        <a:lstStyle/>
        <a:p>
          <a:r>
            <a:rPr lang="en-US"/>
            <a:t>OVERALL RISK POSTURE: </a:t>
          </a:r>
          <a:r>
            <a:rPr lang="en-US" b="1"/>
            <a:t>Medium (with several High-risk exposures)</a:t>
          </a:r>
          <a:endParaRPr lang="en-US"/>
        </a:p>
      </dgm:t>
    </dgm:pt>
    <dgm:pt modelId="{B7BC7F0F-8D9D-4246-9F2F-F972C4842B24}" type="parTrans" cxnId="{51E6E2AC-3BE4-4AAD-A41E-BD77E637D01C}">
      <dgm:prSet/>
      <dgm:spPr/>
      <dgm:t>
        <a:bodyPr/>
        <a:lstStyle/>
        <a:p>
          <a:endParaRPr lang="en-US"/>
        </a:p>
      </dgm:t>
    </dgm:pt>
    <dgm:pt modelId="{EC3ABA32-65A3-4DD8-BB32-E5AC4F187568}" type="sibTrans" cxnId="{51E6E2AC-3BE4-4AAD-A41E-BD77E637D01C}">
      <dgm:prSet/>
      <dgm:spPr/>
      <dgm:t>
        <a:bodyPr/>
        <a:lstStyle/>
        <a:p>
          <a:endParaRPr lang="en-US"/>
        </a:p>
      </dgm:t>
    </dgm:pt>
    <dgm:pt modelId="{F7ECA0D2-1F3F-427D-9B1F-0512E52DB035}">
      <dgm:prSet/>
      <dgm:spPr/>
      <dgm:t>
        <a:bodyPr/>
        <a:lstStyle/>
        <a:p>
          <a:r>
            <a:rPr lang="en-US"/>
            <a:t>STRENGTHS: </a:t>
          </a:r>
        </a:p>
      </dgm:t>
    </dgm:pt>
    <dgm:pt modelId="{38FCF2FB-A1A0-4897-80A3-5A452E00B1FD}" type="parTrans" cxnId="{6BBDCF49-BD87-409D-8E39-BE11CA1F075D}">
      <dgm:prSet/>
      <dgm:spPr/>
      <dgm:t>
        <a:bodyPr/>
        <a:lstStyle/>
        <a:p>
          <a:endParaRPr lang="en-US"/>
        </a:p>
      </dgm:t>
    </dgm:pt>
    <dgm:pt modelId="{7564E45D-D2D2-41EA-976E-DEF1F16D5AE0}" type="sibTrans" cxnId="{6BBDCF49-BD87-409D-8E39-BE11CA1F075D}">
      <dgm:prSet/>
      <dgm:spPr/>
      <dgm:t>
        <a:bodyPr/>
        <a:lstStyle/>
        <a:p>
          <a:endParaRPr lang="en-US"/>
        </a:p>
      </dgm:t>
    </dgm:pt>
    <dgm:pt modelId="{A3CDC495-D270-4261-AF04-13B089DEA71E}">
      <dgm:prSet/>
      <dgm:spPr/>
      <dgm:t>
        <a:bodyPr/>
        <a:lstStyle/>
        <a:p>
          <a:r>
            <a:rPr lang="en-US"/>
            <a:t>Active safeguarding champions conducting safeguarding sensitization and policy dissemination sessions.</a:t>
          </a:r>
        </a:p>
      </dgm:t>
    </dgm:pt>
    <dgm:pt modelId="{851EC9B6-1FD1-4F2A-8690-131F036EA47B}" type="parTrans" cxnId="{BEB23885-2B44-43AC-8940-C3BC6C724ACC}">
      <dgm:prSet/>
      <dgm:spPr/>
      <dgm:t>
        <a:bodyPr/>
        <a:lstStyle/>
        <a:p>
          <a:endParaRPr lang="en-US"/>
        </a:p>
      </dgm:t>
    </dgm:pt>
    <dgm:pt modelId="{801A8005-5CF9-4EE1-83A0-03C12A712160}" type="sibTrans" cxnId="{BEB23885-2B44-43AC-8940-C3BC6C724ACC}">
      <dgm:prSet/>
      <dgm:spPr/>
      <dgm:t>
        <a:bodyPr/>
        <a:lstStyle/>
        <a:p>
          <a:endParaRPr lang="en-US"/>
        </a:p>
      </dgm:t>
    </dgm:pt>
    <dgm:pt modelId="{5C2A4191-9C8B-42FA-822F-466A0538E1A3}">
      <dgm:prSet/>
      <dgm:spPr/>
      <dgm:t>
        <a:bodyPr/>
        <a:lstStyle/>
        <a:p>
          <a:r>
            <a:rPr lang="en-US"/>
            <a:t>Growing awareness of safeguarding obligations among branch leadership, staff, and volunteers.</a:t>
          </a:r>
        </a:p>
      </dgm:t>
    </dgm:pt>
    <dgm:pt modelId="{29CB320C-20FC-43BC-B6DE-9FC80614691F}" type="parTrans" cxnId="{447899D5-EC61-4CD5-900C-40325A6C9B2B}">
      <dgm:prSet/>
      <dgm:spPr/>
      <dgm:t>
        <a:bodyPr/>
        <a:lstStyle/>
        <a:p>
          <a:endParaRPr lang="en-US"/>
        </a:p>
      </dgm:t>
    </dgm:pt>
    <dgm:pt modelId="{B80E8563-89FF-4BFF-9E0B-A5630FFD4EFA}" type="sibTrans" cxnId="{447899D5-EC61-4CD5-900C-40325A6C9B2B}">
      <dgm:prSet/>
      <dgm:spPr/>
      <dgm:t>
        <a:bodyPr/>
        <a:lstStyle/>
        <a:p>
          <a:endParaRPr lang="en-US"/>
        </a:p>
      </dgm:t>
    </dgm:pt>
    <dgm:pt modelId="{BDE0DDA7-8C54-44FC-8696-80C98AD60FF6}">
      <dgm:prSet/>
      <dgm:spPr/>
      <dgm:t>
        <a:bodyPr/>
        <a:lstStyle/>
        <a:p>
          <a:r>
            <a:rPr lang="en-US"/>
            <a:t>CRITICAL GAPS: </a:t>
          </a:r>
        </a:p>
      </dgm:t>
    </dgm:pt>
    <dgm:pt modelId="{38E23BEC-D888-4FF0-B8ED-74B48CE56A32}" type="parTrans" cxnId="{0B2A412E-27AE-4A28-B80B-FADFE4B26E92}">
      <dgm:prSet/>
      <dgm:spPr/>
      <dgm:t>
        <a:bodyPr/>
        <a:lstStyle/>
        <a:p>
          <a:endParaRPr lang="en-US"/>
        </a:p>
      </dgm:t>
    </dgm:pt>
    <dgm:pt modelId="{C1E3B6AD-6E31-44FF-87F6-7CE6668BD29D}" type="sibTrans" cxnId="{0B2A412E-27AE-4A28-B80B-FADFE4B26E92}">
      <dgm:prSet/>
      <dgm:spPr/>
      <dgm:t>
        <a:bodyPr/>
        <a:lstStyle/>
        <a:p>
          <a:endParaRPr lang="en-US"/>
        </a:p>
      </dgm:t>
    </dgm:pt>
    <dgm:pt modelId="{02A7A2E0-C88D-4912-99CC-FB5440CF21A0}">
      <dgm:prSet/>
      <dgm:spPr/>
      <dgm:t>
        <a:bodyPr/>
        <a:lstStyle/>
        <a:p>
          <a:r>
            <a:rPr lang="en-US"/>
            <a:t>Limited governance engagement; safeguarding is rarely discussed in Board minutes</a:t>
          </a:r>
        </a:p>
      </dgm:t>
    </dgm:pt>
    <dgm:pt modelId="{13FA00F1-840B-4B12-9A61-A426E9C3211B}" type="parTrans" cxnId="{914D2030-ADB1-424F-AEA7-13F6D02C1886}">
      <dgm:prSet/>
      <dgm:spPr/>
      <dgm:t>
        <a:bodyPr/>
        <a:lstStyle/>
        <a:p>
          <a:endParaRPr lang="en-US"/>
        </a:p>
      </dgm:t>
    </dgm:pt>
    <dgm:pt modelId="{66052BB5-868A-4064-B112-C2CE8832242B}" type="sibTrans" cxnId="{914D2030-ADB1-424F-AEA7-13F6D02C1886}">
      <dgm:prSet/>
      <dgm:spPr/>
      <dgm:t>
        <a:bodyPr/>
        <a:lstStyle/>
        <a:p>
          <a:endParaRPr lang="en-US"/>
        </a:p>
      </dgm:t>
    </dgm:pt>
    <dgm:pt modelId="{645B9A5B-E04E-46D4-903F-CF740FD9C4CA}">
      <dgm:prSet/>
      <dgm:spPr/>
      <dgm:t>
        <a:bodyPr/>
        <a:lstStyle/>
        <a:p>
          <a:r>
            <a:rPr lang="en-US"/>
            <a:t>Lack of  documentation of sensitization efforts</a:t>
          </a:r>
        </a:p>
      </dgm:t>
    </dgm:pt>
    <dgm:pt modelId="{BD816E4F-3D6A-4945-B294-91AEED92B5FA}" type="parTrans" cxnId="{1BB068F8-9E7C-463B-B86D-5531B0E2F471}">
      <dgm:prSet/>
      <dgm:spPr/>
      <dgm:t>
        <a:bodyPr/>
        <a:lstStyle/>
        <a:p>
          <a:endParaRPr lang="en-US"/>
        </a:p>
      </dgm:t>
    </dgm:pt>
    <dgm:pt modelId="{940B0E17-4B10-4139-9F21-3C2DFE8FD928}" type="sibTrans" cxnId="{1BB068F8-9E7C-463B-B86D-5531B0E2F471}">
      <dgm:prSet/>
      <dgm:spPr/>
      <dgm:t>
        <a:bodyPr/>
        <a:lstStyle/>
        <a:p>
          <a:endParaRPr lang="en-US"/>
        </a:p>
      </dgm:t>
    </dgm:pt>
    <dgm:pt modelId="{23243A8C-C373-43A3-B0FB-58FAAEF5E764}">
      <dgm:prSet/>
      <dgm:spPr/>
      <dgm:t>
        <a:bodyPr/>
        <a:lstStyle/>
        <a:p>
          <a:r>
            <a:rPr lang="en-US"/>
            <a:t>IEC materials are absent in several branches assessed</a:t>
          </a:r>
        </a:p>
      </dgm:t>
    </dgm:pt>
    <dgm:pt modelId="{53417385-7D10-4CAC-BF76-3174C01C5E95}" type="parTrans" cxnId="{2EF6F63B-F663-440D-A422-CB956CE9A05C}">
      <dgm:prSet/>
      <dgm:spPr/>
      <dgm:t>
        <a:bodyPr/>
        <a:lstStyle/>
        <a:p>
          <a:endParaRPr lang="en-US"/>
        </a:p>
      </dgm:t>
    </dgm:pt>
    <dgm:pt modelId="{F35C1D37-F038-419C-B181-78E1005E6617}" type="sibTrans" cxnId="{2EF6F63B-F663-440D-A422-CB956CE9A05C}">
      <dgm:prSet/>
      <dgm:spPr/>
      <dgm:t>
        <a:bodyPr/>
        <a:lstStyle/>
        <a:p>
          <a:endParaRPr lang="en-US"/>
        </a:p>
      </dgm:t>
    </dgm:pt>
    <dgm:pt modelId="{0A291DDD-60EA-4A12-9D3C-82C84206F809}">
      <dgm:prSet/>
      <dgm:spPr/>
      <dgm:t>
        <a:bodyPr/>
        <a:lstStyle/>
        <a:p>
          <a:r>
            <a:rPr lang="en-US"/>
            <a:t>Gaps in survivor-centered response capacity and referral pathways.</a:t>
          </a:r>
        </a:p>
      </dgm:t>
    </dgm:pt>
    <dgm:pt modelId="{13AC055E-54BE-43F4-9C6A-FA6196548F49}" type="parTrans" cxnId="{2F2A167F-07B1-4C9E-B416-7AB90E04A79F}">
      <dgm:prSet/>
      <dgm:spPr/>
      <dgm:t>
        <a:bodyPr/>
        <a:lstStyle/>
        <a:p>
          <a:endParaRPr lang="en-US"/>
        </a:p>
      </dgm:t>
    </dgm:pt>
    <dgm:pt modelId="{34F223CC-2D8F-4719-8B0A-2A4AD038713A}" type="sibTrans" cxnId="{2F2A167F-07B1-4C9E-B416-7AB90E04A79F}">
      <dgm:prSet/>
      <dgm:spPr/>
      <dgm:t>
        <a:bodyPr/>
        <a:lstStyle/>
        <a:p>
          <a:endParaRPr lang="en-US"/>
        </a:p>
      </dgm:t>
    </dgm:pt>
    <dgm:pt modelId="{9E8479FF-EA99-4984-A8F4-C65BD395696F}">
      <dgm:prSet/>
      <dgm:spPr/>
      <dgm:t>
        <a:bodyPr/>
        <a:lstStyle/>
        <a:p>
          <a:r>
            <a:rPr lang="en-US"/>
            <a:t>Uneven safeguarding training coverage among staff and volunteers (including mandatory courses)</a:t>
          </a:r>
        </a:p>
      </dgm:t>
    </dgm:pt>
    <dgm:pt modelId="{23DCD3C8-1DC3-4107-A59F-055C1D736D9D}" type="parTrans" cxnId="{3164356F-2EF6-418D-92EF-243E80B35B53}">
      <dgm:prSet/>
      <dgm:spPr/>
      <dgm:t>
        <a:bodyPr/>
        <a:lstStyle/>
        <a:p>
          <a:endParaRPr lang="en-US"/>
        </a:p>
      </dgm:t>
    </dgm:pt>
    <dgm:pt modelId="{F24D4F1D-5ABE-4CD1-B1CD-7A1F93341CA5}" type="sibTrans" cxnId="{3164356F-2EF6-418D-92EF-243E80B35B53}">
      <dgm:prSet/>
      <dgm:spPr/>
      <dgm:t>
        <a:bodyPr/>
        <a:lstStyle/>
        <a:p>
          <a:endParaRPr lang="en-US"/>
        </a:p>
      </dgm:t>
    </dgm:pt>
    <dgm:pt modelId="{5A56EFA1-61B9-475C-B810-86E9F4578BBD}" type="pres">
      <dgm:prSet presAssocID="{C5C98749-E588-4C2C-9BAC-7B1EE38DDE77}" presName="linear" presStyleCnt="0">
        <dgm:presLayoutVars>
          <dgm:animLvl val="lvl"/>
          <dgm:resizeHandles val="exact"/>
        </dgm:presLayoutVars>
      </dgm:prSet>
      <dgm:spPr/>
    </dgm:pt>
    <dgm:pt modelId="{2FCE413E-8FB7-4575-80E7-563C2D05C1E6}" type="pres">
      <dgm:prSet presAssocID="{5A131315-89AF-430A-98BB-0523292D6D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9AC470-C707-41E4-B402-A83733494D30}" type="pres">
      <dgm:prSet presAssocID="{EC3ABA32-65A3-4DD8-BB32-E5AC4F187568}" presName="spacer" presStyleCnt="0"/>
      <dgm:spPr/>
    </dgm:pt>
    <dgm:pt modelId="{BD783C43-8D27-414E-BC98-2546EA3361BE}" type="pres">
      <dgm:prSet presAssocID="{F7ECA0D2-1F3F-427D-9B1F-0512E52DB0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FF499C-9943-4DDE-AE43-CFC485099A9E}" type="pres">
      <dgm:prSet presAssocID="{F7ECA0D2-1F3F-427D-9B1F-0512E52DB035}" presName="childText" presStyleLbl="revTx" presStyleIdx="0" presStyleCnt="2">
        <dgm:presLayoutVars>
          <dgm:bulletEnabled val="1"/>
        </dgm:presLayoutVars>
      </dgm:prSet>
      <dgm:spPr/>
    </dgm:pt>
    <dgm:pt modelId="{484146FF-0D06-426C-839B-73488C7036CD}" type="pres">
      <dgm:prSet presAssocID="{BDE0DDA7-8C54-44FC-8696-80C98AD60FF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27ADF08-D203-4924-BE12-9EC90774C21D}" type="pres">
      <dgm:prSet presAssocID="{BDE0DDA7-8C54-44FC-8696-80C98AD60FF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B41B700-11A0-49B0-99B3-BC32ED3D4CD4}" type="presOf" srcId="{0A291DDD-60EA-4A12-9D3C-82C84206F809}" destId="{627ADF08-D203-4924-BE12-9EC90774C21D}" srcOrd="0" destOrd="3" presId="urn:microsoft.com/office/officeart/2005/8/layout/vList2"/>
    <dgm:cxn modelId="{A3103F09-A17C-4E64-954E-0A7A8B74A15D}" type="presOf" srcId="{F7ECA0D2-1F3F-427D-9B1F-0512E52DB035}" destId="{BD783C43-8D27-414E-BC98-2546EA3361BE}" srcOrd="0" destOrd="0" presId="urn:microsoft.com/office/officeart/2005/8/layout/vList2"/>
    <dgm:cxn modelId="{D7107D14-1FD6-4915-8D45-0E88407904C8}" type="presOf" srcId="{5A131315-89AF-430A-98BB-0523292D6D66}" destId="{2FCE413E-8FB7-4575-80E7-563C2D05C1E6}" srcOrd="0" destOrd="0" presId="urn:microsoft.com/office/officeart/2005/8/layout/vList2"/>
    <dgm:cxn modelId="{E092F514-A21A-4682-9589-1615C557A061}" type="presOf" srcId="{02A7A2E0-C88D-4912-99CC-FB5440CF21A0}" destId="{627ADF08-D203-4924-BE12-9EC90774C21D}" srcOrd="0" destOrd="0" presId="urn:microsoft.com/office/officeart/2005/8/layout/vList2"/>
    <dgm:cxn modelId="{28023015-B67A-496C-B513-20C094AC8FA7}" type="presOf" srcId="{A3CDC495-D270-4261-AF04-13B089DEA71E}" destId="{A2FF499C-9943-4DDE-AE43-CFC485099A9E}" srcOrd="0" destOrd="0" presId="urn:microsoft.com/office/officeart/2005/8/layout/vList2"/>
    <dgm:cxn modelId="{3739041F-AC2F-4F97-89AF-74B91EA0EA55}" type="presOf" srcId="{BDE0DDA7-8C54-44FC-8696-80C98AD60FF6}" destId="{484146FF-0D06-426C-839B-73488C7036CD}" srcOrd="0" destOrd="0" presId="urn:microsoft.com/office/officeart/2005/8/layout/vList2"/>
    <dgm:cxn modelId="{EAE77823-3356-4AA7-885B-550E0B9427FB}" type="presOf" srcId="{C5C98749-E588-4C2C-9BAC-7B1EE38DDE77}" destId="{5A56EFA1-61B9-475C-B810-86E9F4578BBD}" srcOrd="0" destOrd="0" presId="urn:microsoft.com/office/officeart/2005/8/layout/vList2"/>
    <dgm:cxn modelId="{0B2A412E-27AE-4A28-B80B-FADFE4B26E92}" srcId="{C5C98749-E588-4C2C-9BAC-7B1EE38DDE77}" destId="{BDE0DDA7-8C54-44FC-8696-80C98AD60FF6}" srcOrd="2" destOrd="0" parTransId="{38E23BEC-D888-4FF0-B8ED-74B48CE56A32}" sibTransId="{C1E3B6AD-6E31-44FF-87F6-7CE6668BD29D}"/>
    <dgm:cxn modelId="{914D2030-ADB1-424F-AEA7-13F6D02C1886}" srcId="{BDE0DDA7-8C54-44FC-8696-80C98AD60FF6}" destId="{02A7A2E0-C88D-4912-99CC-FB5440CF21A0}" srcOrd="0" destOrd="0" parTransId="{13FA00F1-840B-4B12-9A61-A426E9C3211B}" sibTransId="{66052BB5-868A-4064-B112-C2CE8832242B}"/>
    <dgm:cxn modelId="{2EF6F63B-F663-440D-A422-CB956CE9A05C}" srcId="{BDE0DDA7-8C54-44FC-8696-80C98AD60FF6}" destId="{23243A8C-C373-43A3-B0FB-58FAAEF5E764}" srcOrd="2" destOrd="0" parTransId="{53417385-7D10-4CAC-BF76-3174C01C5E95}" sibTransId="{F35C1D37-F038-419C-B181-78E1005E6617}"/>
    <dgm:cxn modelId="{37739040-33C3-453E-853A-D246244B9B62}" type="presOf" srcId="{9E8479FF-EA99-4984-A8F4-C65BD395696F}" destId="{627ADF08-D203-4924-BE12-9EC90774C21D}" srcOrd="0" destOrd="4" presId="urn:microsoft.com/office/officeart/2005/8/layout/vList2"/>
    <dgm:cxn modelId="{20099946-8A08-4989-840E-A35E8D3D50C6}" type="presOf" srcId="{23243A8C-C373-43A3-B0FB-58FAAEF5E764}" destId="{627ADF08-D203-4924-BE12-9EC90774C21D}" srcOrd="0" destOrd="2" presId="urn:microsoft.com/office/officeart/2005/8/layout/vList2"/>
    <dgm:cxn modelId="{6BBDCF49-BD87-409D-8E39-BE11CA1F075D}" srcId="{C5C98749-E588-4C2C-9BAC-7B1EE38DDE77}" destId="{F7ECA0D2-1F3F-427D-9B1F-0512E52DB035}" srcOrd="1" destOrd="0" parTransId="{38FCF2FB-A1A0-4897-80A3-5A452E00B1FD}" sibTransId="{7564E45D-D2D2-41EA-976E-DEF1F16D5AE0}"/>
    <dgm:cxn modelId="{3164356F-2EF6-418D-92EF-243E80B35B53}" srcId="{BDE0DDA7-8C54-44FC-8696-80C98AD60FF6}" destId="{9E8479FF-EA99-4984-A8F4-C65BD395696F}" srcOrd="4" destOrd="0" parTransId="{23DCD3C8-1DC3-4107-A59F-055C1D736D9D}" sibTransId="{F24D4F1D-5ABE-4CD1-B1CD-7A1F93341CA5}"/>
    <dgm:cxn modelId="{BBC1D37C-BA3A-4168-801C-32549A1E3A10}" type="presOf" srcId="{645B9A5B-E04E-46D4-903F-CF740FD9C4CA}" destId="{627ADF08-D203-4924-BE12-9EC90774C21D}" srcOrd="0" destOrd="1" presId="urn:microsoft.com/office/officeart/2005/8/layout/vList2"/>
    <dgm:cxn modelId="{2F2A167F-07B1-4C9E-B416-7AB90E04A79F}" srcId="{BDE0DDA7-8C54-44FC-8696-80C98AD60FF6}" destId="{0A291DDD-60EA-4A12-9D3C-82C84206F809}" srcOrd="3" destOrd="0" parTransId="{13AC055E-54BE-43F4-9C6A-FA6196548F49}" sibTransId="{34F223CC-2D8F-4719-8B0A-2A4AD038713A}"/>
    <dgm:cxn modelId="{BEB23885-2B44-43AC-8940-C3BC6C724ACC}" srcId="{F7ECA0D2-1F3F-427D-9B1F-0512E52DB035}" destId="{A3CDC495-D270-4261-AF04-13B089DEA71E}" srcOrd="0" destOrd="0" parTransId="{851EC9B6-1FD1-4F2A-8690-131F036EA47B}" sibTransId="{801A8005-5CF9-4EE1-83A0-03C12A712160}"/>
    <dgm:cxn modelId="{45C7EAA3-35EE-4BAB-8D43-76F030E50AAB}" type="presOf" srcId="{5C2A4191-9C8B-42FA-822F-466A0538E1A3}" destId="{A2FF499C-9943-4DDE-AE43-CFC485099A9E}" srcOrd="0" destOrd="1" presId="urn:microsoft.com/office/officeart/2005/8/layout/vList2"/>
    <dgm:cxn modelId="{51E6E2AC-3BE4-4AAD-A41E-BD77E637D01C}" srcId="{C5C98749-E588-4C2C-9BAC-7B1EE38DDE77}" destId="{5A131315-89AF-430A-98BB-0523292D6D66}" srcOrd="0" destOrd="0" parTransId="{B7BC7F0F-8D9D-4246-9F2F-F972C4842B24}" sibTransId="{EC3ABA32-65A3-4DD8-BB32-E5AC4F187568}"/>
    <dgm:cxn modelId="{447899D5-EC61-4CD5-900C-40325A6C9B2B}" srcId="{F7ECA0D2-1F3F-427D-9B1F-0512E52DB035}" destId="{5C2A4191-9C8B-42FA-822F-466A0538E1A3}" srcOrd="1" destOrd="0" parTransId="{29CB320C-20FC-43BC-B6DE-9FC80614691F}" sibTransId="{B80E8563-89FF-4BFF-9E0B-A5630FFD4EFA}"/>
    <dgm:cxn modelId="{1BB068F8-9E7C-463B-B86D-5531B0E2F471}" srcId="{BDE0DDA7-8C54-44FC-8696-80C98AD60FF6}" destId="{645B9A5B-E04E-46D4-903F-CF740FD9C4CA}" srcOrd="1" destOrd="0" parTransId="{BD816E4F-3D6A-4945-B294-91AEED92B5FA}" sibTransId="{940B0E17-4B10-4139-9F21-3C2DFE8FD928}"/>
    <dgm:cxn modelId="{1192D796-DCA6-419A-ACF9-365EB8BDA62B}" type="presParOf" srcId="{5A56EFA1-61B9-475C-B810-86E9F4578BBD}" destId="{2FCE413E-8FB7-4575-80E7-563C2D05C1E6}" srcOrd="0" destOrd="0" presId="urn:microsoft.com/office/officeart/2005/8/layout/vList2"/>
    <dgm:cxn modelId="{D26D9EAA-81C8-42DA-B19C-64CEA579AD89}" type="presParOf" srcId="{5A56EFA1-61B9-475C-B810-86E9F4578BBD}" destId="{D09AC470-C707-41E4-B402-A83733494D30}" srcOrd="1" destOrd="0" presId="urn:microsoft.com/office/officeart/2005/8/layout/vList2"/>
    <dgm:cxn modelId="{F11E9B9C-9CE4-4356-AA36-F94F7BE00224}" type="presParOf" srcId="{5A56EFA1-61B9-475C-B810-86E9F4578BBD}" destId="{BD783C43-8D27-414E-BC98-2546EA3361BE}" srcOrd="2" destOrd="0" presId="urn:microsoft.com/office/officeart/2005/8/layout/vList2"/>
    <dgm:cxn modelId="{CCC2838F-1C3A-46B8-85D3-339302ABCBA5}" type="presParOf" srcId="{5A56EFA1-61B9-475C-B810-86E9F4578BBD}" destId="{A2FF499C-9943-4DDE-AE43-CFC485099A9E}" srcOrd="3" destOrd="0" presId="urn:microsoft.com/office/officeart/2005/8/layout/vList2"/>
    <dgm:cxn modelId="{13E5727E-DDD1-497C-8DE7-582672401B77}" type="presParOf" srcId="{5A56EFA1-61B9-475C-B810-86E9F4578BBD}" destId="{484146FF-0D06-426C-839B-73488C7036CD}" srcOrd="4" destOrd="0" presId="urn:microsoft.com/office/officeart/2005/8/layout/vList2"/>
    <dgm:cxn modelId="{A34C1B02-7D63-4174-8E93-86853EDD9088}" type="presParOf" srcId="{5A56EFA1-61B9-475C-B810-86E9F4578BBD}" destId="{627ADF08-D203-4924-BE12-9EC90774C21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920AA9-97EF-4D03-828A-4128FD61758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A0CFDA-FED2-413D-A10D-01BAC25771FB}">
      <dgm:prSet/>
      <dgm:spPr/>
      <dgm:t>
        <a:bodyPr/>
        <a:lstStyle/>
        <a:p>
          <a:r>
            <a:rPr lang="en-US"/>
            <a:t>Mandate safeguarding as a standing agenda item for all board meetings with documented action points reviewed quarterly by the Board Chair.</a:t>
          </a:r>
        </a:p>
      </dgm:t>
    </dgm:pt>
    <dgm:pt modelId="{96CB65F8-EAAA-470C-B2FB-8F8973127073}" type="parTrans" cxnId="{ABEEBC87-5828-4ECD-AB8A-F2BD679B74F5}">
      <dgm:prSet/>
      <dgm:spPr/>
      <dgm:t>
        <a:bodyPr/>
        <a:lstStyle/>
        <a:p>
          <a:endParaRPr lang="en-US"/>
        </a:p>
      </dgm:t>
    </dgm:pt>
    <dgm:pt modelId="{6CB15EF8-F3D5-4A69-9E0F-39CFAF4C2A5F}" type="sibTrans" cxnId="{ABEEBC87-5828-4ECD-AB8A-F2BD679B74F5}">
      <dgm:prSet/>
      <dgm:spPr/>
      <dgm:t>
        <a:bodyPr/>
        <a:lstStyle/>
        <a:p>
          <a:endParaRPr lang="en-US"/>
        </a:p>
      </dgm:t>
    </dgm:pt>
    <dgm:pt modelId="{916B0A96-28DE-45E5-94E9-7980E000A7B6}">
      <dgm:prSet/>
      <dgm:spPr/>
      <dgm:t>
        <a:bodyPr/>
        <a:lstStyle/>
        <a:p>
          <a:r>
            <a:rPr lang="en-US"/>
            <a:t>Appoint Safeguarding Champions at  Boards and Branch level</a:t>
          </a:r>
        </a:p>
      </dgm:t>
    </dgm:pt>
    <dgm:pt modelId="{2A1905D6-F4C9-408B-87A1-2BAE1C3A82C2}" type="parTrans" cxnId="{92909DD9-E7D2-47AA-B629-CF992B09C9AA}">
      <dgm:prSet/>
      <dgm:spPr/>
      <dgm:t>
        <a:bodyPr/>
        <a:lstStyle/>
        <a:p>
          <a:endParaRPr lang="en-US"/>
        </a:p>
      </dgm:t>
    </dgm:pt>
    <dgm:pt modelId="{816140A8-A446-418F-B568-0E4D22CD25BA}" type="sibTrans" cxnId="{92909DD9-E7D2-47AA-B629-CF992B09C9AA}">
      <dgm:prSet/>
      <dgm:spPr/>
      <dgm:t>
        <a:bodyPr/>
        <a:lstStyle/>
        <a:p>
          <a:endParaRPr lang="en-US"/>
        </a:p>
      </dgm:t>
    </dgm:pt>
    <dgm:pt modelId="{FFB8BAB3-953C-404C-8802-392412363DB1}">
      <dgm:prSet/>
      <dgm:spPr/>
      <dgm:t>
        <a:bodyPr/>
        <a:lstStyle/>
        <a:p>
          <a:r>
            <a:rPr lang="en-US"/>
            <a:t>Develop Referral Directories for all branches</a:t>
          </a:r>
        </a:p>
      </dgm:t>
    </dgm:pt>
    <dgm:pt modelId="{3A4AA4CC-B82A-41B8-93C8-F1F40841DEDE}" type="parTrans" cxnId="{86F693C8-1CDF-495D-94D7-B1DEA5A954C3}">
      <dgm:prSet/>
      <dgm:spPr/>
      <dgm:t>
        <a:bodyPr/>
        <a:lstStyle/>
        <a:p>
          <a:endParaRPr lang="en-US"/>
        </a:p>
      </dgm:t>
    </dgm:pt>
    <dgm:pt modelId="{C60BDAF2-5D74-4CAA-AF3F-8BFDBF6872BD}" type="sibTrans" cxnId="{86F693C8-1CDF-495D-94D7-B1DEA5A954C3}">
      <dgm:prSet/>
      <dgm:spPr/>
      <dgm:t>
        <a:bodyPr/>
        <a:lstStyle/>
        <a:p>
          <a:endParaRPr lang="en-US"/>
        </a:p>
      </dgm:t>
    </dgm:pt>
    <dgm:pt modelId="{EEC66F0A-E521-49EF-BCB4-8D1E04F88560}">
      <dgm:prSet/>
      <dgm:spPr/>
      <dgm:t>
        <a:bodyPr/>
        <a:lstStyle/>
        <a:p>
          <a:r>
            <a:rPr lang="en-US"/>
            <a:t>Tracking of the mandatory courses completion</a:t>
          </a:r>
        </a:p>
      </dgm:t>
    </dgm:pt>
    <dgm:pt modelId="{7F2F946F-05B2-4974-82FC-500AE5606984}" type="parTrans" cxnId="{0FA0AE43-DD39-4894-9A40-E50F49871DF7}">
      <dgm:prSet/>
      <dgm:spPr/>
      <dgm:t>
        <a:bodyPr/>
        <a:lstStyle/>
        <a:p>
          <a:endParaRPr lang="en-US"/>
        </a:p>
      </dgm:t>
    </dgm:pt>
    <dgm:pt modelId="{9ADC810C-F132-4808-BFF4-04F21C437F8E}" type="sibTrans" cxnId="{0FA0AE43-DD39-4894-9A40-E50F49871DF7}">
      <dgm:prSet/>
      <dgm:spPr/>
      <dgm:t>
        <a:bodyPr/>
        <a:lstStyle/>
        <a:p>
          <a:endParaRPr lang="en-US"/>
        </a:p>
      </dgm:t>
    </dgm:pt>
    <dgm:pt modelId="{F9C26B0D-A198-4983-83BF-00FECDD4C22D}">
      <dgm:prSet/>
      <dgm:spPr/>
      <dgm:t>
        <a:bodyPr/>
        <a:lstStyle/>
        <a:p>
          <a:r>
            <a:rPr lang="en-US"/>
            <a:t>Documentation of  safeguarding sensitization sessions conducted</a:t>
          </a:r>
        </a:p>
      </dgm:t>
    </dgm:pt>
    <dgm:pt modelId="{57EDCB3E-7B23-4E8C-8BD2-5563D9F9E2BC}" type="parTrans" cxnId="{9914457A-1928-4E61-B54C-E3067F81C893}">
      <dgm:prSet/>
      <dgm:spPr/>
      <dgm:t>
        <a:bodyPr/>
        <a:lstStyle/>
        <a:p>
          <a:endParaRPr lang="en-US"/>
        </a:p>
      </dgm:t>
    </dgm:pt>
    <dgm:pt modelId="{BF8C6DE9-2837-4B27-9803-F8A99A7FD7F9}" type="sibTrans" cxnId="{9914457A-1928-4E61-B54C-E3067F81C893}">
      <dgm:prSet/>
      <dgm:spPr/>
      <dgm:t>
        <a:bodyPr/>
        <a:lstStyle/>
        <a:p>
          <a:endParaRPr lang="en-US"/>
        </a:p>
      </dgm:t>
    </dgm:pt>
    <dgm:pt modelId="{BDDBED83-F32E-409F-A5AE-13D7B37CF6CE}">
      <dgm:prSet/>
      <dgm:spPr/>
      <dgm:t>
        <a:bodyPr/>
        <a:lstStyle/>
        <a:p>
          <a:r>
            <a:rPr lang="en-US"/>
            <a:t>Include safeguarding risks in the Branch/Project Risk Registers</a:t>
          </a:r>
        </a:p>
      </dgm:t>
    </dgm:pt>
    <dgm:pt modelId="{69E5920C-F15A-4F59-8568-9C58D0207CD8}" type="parTrans" cxnId="{DF3E18B5-92DE-484C-A4E7-4B3B9FF023CC}">
      <dgm:prSet/>
      <dgm:spPr/>
      <dgm:t>
        <a:bodyPr/>
        <a:lstStyle/>
        <a:p>
          <a:endParaRPr lang="en-US"/>
        </a:p>
      </dgm:t>
    </dgm:pt>
    <dgm:pt modelId="{2E0C9626-8E83-4664-8C05-6359890940A8}" type="sibTrans" cxnId="{DF3E18B5-92DE-484C-A4E7-4B3B9FF023CC}">
      <dgm:prSet/>
      <dgm:spPr/>
      <dgm:t>
        <a:bodyPr/>
        <a:lstStyle/>
        <a:p>
          <a:endParaRPr lang="en-US"/>
        </a:p>
      </dgm:t>
    </dgm:pt>
    <dgm:pt modelId="{7F1A3DA9-A065-4EB4-8816-523992D9493A}" type="pres">
      <dgm:prSet presAssocID="{77920AA9-97EF-4D03-828A-4128FD617587}" presName="root" presStyleCnt="0">
        <dgm:presLayoutVars>
          <dgm:dir/>
          <dgm:resizeHandles val="exact"/>
        </dgm:presLayoutVars>
      </dgm:prSet>
      <dgm:spPr/>
    </dgm:pt>
    <dgm:pt modelId="{BC089287-460F-4978-8C6B-D523ABB3DE91}" type="pres">
      <dgm:prSet presAssocID="{8EA0CFDA-FED2-413D-A10D-01BAC25771FB}" presName="compNode" presStyleCnt="0"/>
      <dgm:spPr/>
    </dgm:pt>
    <dgm:pt modelId="{0862B14D-FA3A-49C6-B73A-2079C7156078}" type="pres">
      <dgm:prSet presAssocID="{8EA0CFDA-FED2-413D-A10D-01BAC25771F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281B49B-84DE-4B8E-A664-27B92248F526}" type="pres">
      <dgm:prSet presAssocID="{8EA0CFDA-FED2-413D-A10D-01BAC25771FB}" presName="spaceRect" presStyleCnt="0"/>
      <dgm:spPr/>
    </dgm:pt>
    <dgm:pt modelId="{82F90A38-A4C4-4191-B639-001CD1E09315}" type="pres">
      <dgm:prSet presAssocID="{8EA0CFDA-FED2-413D-A10D-01BAC25771FB}" presName="textRect" presStyleLbl="revTx" presStyleIdx="0" presStyleCnt="6">
        <dgm:presLayoutVars>
          <dgm:chMax val="1"/>
          <dgm:chPref val="1"/>
        </dgm:presLayoutVars>
      </dgm:prSet>
      <dgm:spPr/>
    </dgm:pt>
    <dgm:pt modelId="{68C69212-143B-4A30-AAA7-FBF17BE38849}" type="pres">
      <dgm:prSet presAssocID="{6CB15EF8-F3D5-4A69-9E0F-39CFAF4C2A5F}" presName="sibTrans" presStyleCnt="0"/>
      <dgm:spPr/>
    </dgm:pt>
    <dgm:pt modelId="{6A3873E7-66C8-404A-A9A7-AF4D2C220A51}" type="pres">
      <dgm:prSet presAssocID="{916B0A96-28DE-45E5-94E9-7980E000A7B6}" presName="compNode" presStyleCnt="0"/>
      <dgm:spPr/>
    </dgm:pt>
    <dgm:pt modelId="{D825A245-376B-4922-9738-9C55E51997DF}" type="pres">
      <dgm:prSet presAssocID="{916B0A96-28DE-45E5-94E9-7980E000A7B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32F42A2-63A2-4FE9-9341-BB6B559C5FEB}" type="pres">
      <dgm:prSet presAssocID="{916B0A96-28DE-45E5-94E9-7980E000A7B6}" presName="spaceRect" presStyleCnt="0"/>
      <dgm:spPr/>
    </dgm:pt>
    <dgm:pt modelId="{9E65080E-FDFB-42DE-BE19-429058B477DC}" type="pres">
      <dgm:prSet presAssocID="{916B0A96-28DE-45E5-94E9-7980E000A7B6}" presName="textRect" presStyleLbl="revTx" presStyleIdx="1" presStyleCnt="6">
        <dgm:presLayoutVars>
          <dgm:chMax val="1"/>
          <dgm:chPref val="1"/>
        </dgm:presLayoutVars>
      </dgm:prSet>
      <dgm:spPr/>
    </dgm:pt>
    <dgm:pt modelId="{3D4B4CF6-BCCF-41EF-8CCF-8D7DE2AABF0B}" type="pres">
      <dgm:prSet presAssocID="{816140A8-A446-418F-B568-0E4D22CD25BA}" presName="sibTrans" presStyleCnt="0"/>
      <dgm:spPr/>
    </dgm:pt>
    <dgm:pt modelId="{302447D7-45C9-4592-88C2-CF0D6FAA0F07}" type="pres">
      <dgm:prSet presAssocID="{FFB8BAB3-953C-404C-8802-392412363DB1}" presName="compNode" presStyleCnt="0"/>
      <dgm:spPr/>
    </dgm:pt>
    <dgm:pt modelId="{0AD4B425-16E5-473D-9CA1-0A4407C2AA39}" type="pres">
      <dgm:prSet presAssocID="{FFB8BAB3-953C-404C-8802-392412363DB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B5EB85B-C20A-4DE9-BFF7-C5A27324055F}" type="pres">
      <dgm:prSet presAssocID="{FFB8BAB3-953C-404C-8802-392412363DB1}" presName="spaceRect" presStyleCnt="0"/>
      <dgm:spPr/>
    </dgm:pt>
    <dgm:pt modelId="{5008864E-D704-4B9B-8736-35BD3C6F158F}" type="pres">
      <dgm:prSet presAssocID="{FFB8BAB3-953C-404C-8802-392412363DB1}" presName="textRect" presStyleLbl="revTx" presStyleIdx="2" presStyleCnt="6">
        <dgm:presLayoutVars>
          <dgm:chMax val="1"/>
          <dgm:chPref val="1"/>
        </dgm:presLayoutVars>
      </dgm:prSet>
      <dgm:spPr/>
    </dgm:pt>
    <dgm:pt modelId="{D209C246-4C80-4047-B51E-6A8957B78772}" type="pres">
      <dgm:prSet presAssocID="{C60BDAF2-5D74-4CAA-AF3F-8BFDBF6872BD}" presName="sibTrans" presStyleCnt="0"/>
      <dgm:spPr/>
    </dgm:pt>
    <dgm:pt modelId="{843E765D-0D78-4038-9683-2B3165863C9B}" type="pres">
      <dgm:prSet presAssocID="{EEC66F0A-E521-49EF-BCB4-8D1E04F88560}" presName="compNode" presStyleCnt="0"/>
      <dgm:spPr/>
    </dgm:pt>
    <dgm:pt modelId="{7676200A-7CC3-4826-9E5A-673D4A3DDB03}" type="pres">
      <dgm:prSet presAssocID="{EEC66F0A-E521-49EF-BCB4-8D1E04F8856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7E04713-2FBD-43CC-904B-4ADA1BDA18F3}" type="pres">
      <dgm:prSet presAssocID="{EEC66F0A-E521-49EF-BCB4-8D1E04F88560}" presName="spaceRect" presStyleCnt="0"/>
      <dgm:spPr/>
    </dgm:pt>
    <dgm:pt modelId="{B7092EEF-2306-4750-9975-587BFD1A8E66}" type="pres">
      <dgm:prSet presAssocID="{EEC66F0A-E521-49EF-BCB4-8D1E04F88560}" presName="textRect" presStyleLbl="revTx" presStyleIdx="3" presStyleCnt="6">
        <dgm:presLayoutVars>
          <dgm:chMax val="1"/>
          <dgm:chPref val="1"/>
        </dgm:presLayoutVars>
      </dgm:prSet>
      <dgm:spPr/>
    </dgm:pt>
    <dgm:pt modelId="{96588B03-CF0A-4F67-8294-B65A8238CC42}" type="pres">
      <dgm:prSet presAssocID="{9ADC810C-F132-4808-BFF4-04F21C437F8E}" presName="sibTrans" presStyleCnt="0"/>
      <dgm:spPr/>
    </dgm:pt>
    <dgm:pt modelId="{2EDDBEF0-2574-4DD4-98FA-48B796B16E90}" type="pres">
      <dgm:prSet presAssocID="{F9C26B0D-A198-4983-83BF-00FECDD4C22D}" presName="compNode" presStyleCnt="0"/>
      <dgm:spPr/>
    </dgm:pt>
    <dgm:pt modelId="{C40ADFD4-02B7-4633-B637-4415EB80C4C4}" type="pres">
      <dgm:prSet presAssocID="{F9C26B0D-A198-4983-83BF-00FECDD4C22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6F16C74-12AB-45EA-B438-2563ADAFE81A}" type="pres">
      <dgm:prSet presAssocID="{F9C26B0D-A198-4983-83BF-00FECDD4C22D}" presName="spaceRect" presStyleCnt="0"/>
      <dgm:spPr/>
    </dgm:pt>
    <dgm:pt modelId="{55160934-C560-4E85-B605-F7AD7EC5399D}" type="pres">
      <dgm:prSet presAssocID="{F9C26B0D-A198-4983-83BF-00FECDD4C22D}" presName="textRect" presStyleLbl="revTx" presStyleIdx="4" presStyleCnt="6">
        <dgm:presLayoutVars>
          <dgm:chMax val="1"/>
          <dgm:chPref val="1"/>
        </dgm:presLayoutVars>
      </dgm:prSet>
      <dgm:spPr/>
    </dgm:pt>
    <dgm:pt modelId="{2A0D3AB7-58C1-4A45-A068-F4A245DFD216}" type="pres">
      <dgm:prSet presAssocID="{BF8C6DE9-2837-4B27-9803-F8A99A7FD7F9}" presName="sibTrans" presStyleCnt="0"/>
      <dgm:spPr/>
    </dgm:pt>
    <dgm:pt modelId="{66D4539B-0A49-4E6F-8900-C04CCCE542C4}" type="pres">
      <dgm:prSet presAssocID="{BDDBED83-F32E-409F-A5AE-13D7B37CF6CE}" presName="compNode" presStyleCnt="0"/>
      <dgm:spPr/>
    </dgm:pt>
    <dgm:pt modelId="{7497C770-661D-4C41-9753-9B19211ABFA0}" type="pres">
      <dgm:prSet presAssocID="{BDDBED83-F32E-409F-A5AE-13D7B37CF6C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59661CF-77D4-4A92-8C9E-CA5A95582F18}" type="pres">
      <dgm:prSet presAssocID="{BDDBED83-F32E-409F-A5AE-13D7B37CF6CE}" presName="spaceRect" presStyleCnt="0"/>
      <dgm:spPr/>
    </dgm:pt>
    <dgm:pt modelId="{3AB3DDDD-868B-4705-B7F9-36B22AF96118}" type="pres">
      <dgm:prSet presAssocID="{BDDBED83-F32E-409F-A5AE-13D7B37CF6C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FA0AE43-DD39-4894-9A40-E50F49871DF7}" srcId="{77920AA9-97EF-4D03-828A-4128FD617587}" destId="{EEC66F0A-E521-49EF-BCB4-8D1E04F88560}" srcOrd="3" destOrd="0" parTransId="{7F2F946F-05B2-4974-82FC-500AE5606984}" sibTransId="{9ADC810C-F132-4808-BFF4-04F21C437F8E}"/>
    <dgm:cxn modelId="{0131B456-043A-4758-8FD8-D7BDD87A2EAD}" type="presOf" srcId="{8EA0CFDA-FED2-413D-A10D-01BAC25771FB}" destId="{82F90A38-A4C4-4191-B639-001CD1E09315}" srcOrd="0" destOrd="0" presId="urn:microsoft.com/office/officeart/2018/2/layout/IconLabelList"/>
    <dgm:cxn modelId="{9914457A-1928-4E61-B54C-E3067F81C893}" srcId="{77920AA9-97EF-4D03-828A-4128FD617587}" destId="{F9C26B0D-A198-4983-83BF-00FECDD4C22D}" srcOrd="4" destOrd="0" parTransId="{57EDCB3E-7B23-4E8C-8BD2-5563D9F9E2BC}" sibTransId="{BF8C6DE9-2837-4B27-9803-F8A99A7FD7F9}"/>
    <dgm:cxn modelId="{ABEEBC87-5828-4ECD-AB8A-F2BD679B74F5}" srcId="{77920AA9-97EF-4D03-828A-4128FD617587}" destId="{8EA0CFDA-FED2-413D-A10D-01BAC25771FB}" srcOrd="0" destOrd="0" parTransId="{96CB65F8-EAAA-470C-B2FB-8F8973127073}" sibTransId="{6CB15EF8-F3D5-4A69-9E0F-39CFAF4C2A5F}"/>
    <dgm:cxn modelId="{309C63AA-4B7A-4C78-8E0C-5D4C29E1A427}" type="presOf" srcId="{BDDBED83-F32E-409F-A5AE-13D7B37CF6CE}" destId="{3AB3DDDD-868B-4705-B7F9-36B22AF96118}" srcOrd="0" destOrd="0" presId="urn:microsoft.com/office/officeart/2018/2/layout/IconLabelList"/>
    <dgm:cxn modelId="{DF3E18B5-92DE-484C-A4E7-4B3B9FF023CC}" srcId="{77920AA9-97EF-4D03-828A-4128FD617587}" destId="{BDDBED83-F32E-409F-A5AE-13D7B37CF6CE}" srcOrd="5" destOrd="0" parTransId="{69E5920C-F15A-4F59-8568-9C58D0207CD8}" sibTransId="{2E0C9626-8E83-4664-8C05-6359890940A8}"/>
    <dgm:cxn modelId="{86F693C8-1CDF-495D-94D7-B1DEA5A954C3}" srcId="{77920AA9-97EF-4D03-828A-4128FD617587}" destId="{FFB8BAB3-953C-404C-8802-392412363DB1}" srcOrd="2" destOrd="0" parTransId="{3A4AA4CC-B82A-41B8-93C8-F1F40841DEDE}" sibTransId="{C60BDAF2-5D74-4CAA-AF3F-8BFDBF6872BD}"/>
    <dgm:cxn modelId="{188568C9-3A10-4916-8BEB-C686DA4BC0CF}" type="presOf" srcId="{F9C26B0D-A198-4983-83BF-00FECDD4C22D}" destId="{55160934-C560-4E85-B605-F7AD7EC5399D}" srcOrd="0" destOrd="0" presId="urn:microsoft.com/office/officeart/2018/2/layout/IconLabelList"/>
    <dgm:cxn modelId="{CA8533CC-6966-4965-8E8F-EAEA92521425}" type="presOf" srcId="{77920AA9-97EF-4D03-828A-4128FD617587}" destId="{7F1A3DA9-A065-4EB4-8816-523992D9493A}" srcOrd="0" destOrd="0" presId="urn:microsoft.com/office/officeart/2018/2/layout/IconLabelList"/>
    <dgm:cxn modelId="{C098C6D8-03FA-4A25-9994-9C8520CDCC0F}" type="presOf" srcId="{EEC66F0A-E521-49EF-BCB4-8D1E04F88560}" destId="{B7092EEF-2306-4750-9975-587BFD1A8E66}" srcOrd="0" destOrd="0" presId="urn:microsoft.com/office/officeart/2018/2/layout/IconLabelList"/>
    <dgm:cxn modelId="{92909DD9-E7D2-47AA-B629-CF992B09C9AA}" srcId="{77920AA9-97EF-4D03-828A-4128FD617587}" destId="{916B0A96-28DE-45E5-94E9-7980E000A7B6}" srcOrd="1" destOrd="0" parTransId="{2A1905D6-F4C9-408B-87A1-2BAE1C3A82C2}" sibTransId="{816140A8-A446-418F-B568-0E4D22CD25BA}"/>
    <dgm:cxn modelId="{065E82E2-A452-437F-A288-30DE246A3C9E}" type="presOf" srcId="{FFB8BAB3-953C-404C-8802-392412363DB1}" destId="{5008864E-D704-4B9B-8736-35BD3C6F158F}" srcOrd="0" destOrd="0" presId="urn:microsoft.com/office/officeart/2018/2/layout/IconLabelList"/>
    <dgm:cxn modelId="{8F398FE6-E443-46BA-B6A5-755254E18300}" type="presOf" srcId="{916B0A96-28DE-45E5-94E9-7980E000A7B6}" destId="{9E65080E-FDFB-42DE-BE19-429058B477DC}" srcOrd="0" destOrd="0" presId="urn:microsoft.com/office/officeart/2018/2/layout/IconLabelList"/>
    <dgm:cxn modelId="{7C901CF3-A550-465C-A9F6-50073BDE636A}" type="presParOf" srcId="{7F1A3DA9-A065-4EB4-8816-523992D9493A}" destId="{BC089287-460F-4978-8C6B-D523ABB3DE91}" srcOrd="0" destOrd="0" presId="urn:microsoft.com/office/officeart/2018/2/layout/IconLabelList"/>
    <dgm:cxn modelId="{AB4D4B5E-72DF-429A-A57E-9F82A7F03B6D}" type="presParOf" srcId="{BC089287-460F-4978-8C6B-D523ABB3DE91}" destId="{0862B14D-FA3A-49C6-B73A-2079C7156078}" srcOrd="0" destOrd="0" presId="urn:microsoft.com/office/officeart/2018/2/layout/IconLabelList"/>
    <dgm:cxn modelId="{9CF13B50-D0D6-41A0-AAE4-89CA7563D03D}" type="presParOf" srcId="{BC089287-460F-4978-8C6B-D523ABB3DE91}" destId="{E281B49B-84DE-4B8E-A664-27B92248F526}" srcOrd="1" destOrd="0" presId="urn:microsoft.com/office/officeart/2018/2/layout/IconLabelList"/>
    <dgm:cxn modelId="{57B6F624-2D9D-4F86-A057-832E5514C735}" type="presParOf" srcId="{BC089287-460F-4978-8C6B-D523ABB3DE91}" destId="{82F90A38-A4C4-4191-B639-001CD1E09315}" srcOrd="2" destOrd="0" presId="urn:microsoft.com/office/officeart/2018/2/layout/IconLabelList"/>
    <dgm:cxn modelId="{90E5DBEE-AED3-4684-B17D-35D4EE0BE009}" type="presParOf" srcId="{7F1A3DA9-A065-4EB4-8816-523992D9493A}" destId="{68C69212-143B-4A30-AAA7-FBF17BE38849}" srcOrd="1" destOrd="0" presId="urn:microsoft.com/office/officeart/2018/2/layout/IconLabelList"/>
    <dgm:cxn modelId="{617C2802-EC8A-4B70-9CAE-4D2EDCE4C7F7}" type="presParOf" srcId="{7F1A3DA9-A065-4EB4-8816-523992D9493A}" destId="{6A3873E7-66C8-404A-A9A7-AF4D2C220A51}" srcOrd="2" destOrd="0" presId="urn:microsoft.com/office/officeart/2018/2/layout/IconLabelList"/>
    <dgm:cxn modelId="{CD5BD7A7-32A5-4CC2-80B8-A38E11D5D2AA}" type="presParOf" srcId="{6A3873E7-66C8-404A-A9A7-AF4D2C220A51}" destId="{D825A245-376B-4922-9738-9C55E51997DF}" srcOrd="0" destOrd="0" presId="urn:microsoft.com/office/officeart/2018/2/layout/IconLabelList"/>
    <dgm:cxn modelId="{2DFF86EC-1C50-4416-A1F4-8E6288CB4B1C}" type="presParOf" srcId="{6A3873E7-66C8-404A-A9A7-AF4D2C220A51}" destId="{732F42A2-63A2-4FE9-9341-BB6B559C5FEB}" srcOrd="1" destOrd="0" presId="urn:microsoft.com/office/officeart/2018/2/layout/IconLabelList"/>
    <dgm:cxn modelId="{6B102F1D-470D-41AA-AD03-4B67A5FA2C01}" type="presParOf" srcId="{6A3873E7-66C8-404A-A9A7-AF4D2C220A51}" destId="{9E65080E-FDFB-42DE-BE19-429058B477DC}" srcOrd="2" destOrd="0" presId="urn:microsoft.com/office/officeart/2018/2/layout/IconLabelList"/>
    <dgm:cxn modelId="{A5E36147-E2A3-481C-952D-1D5EFF165779}" type="presParOf" srcId="{7F1A3DA9-A065-4EB4-8816-523992D9493A}" destId="{3D4B4CF6-BCCF-41EF-8CCF-8D7DE2AABF0B}" srcOrd="3" destOrd="0" presId="urn:microsoft.com/office/officeart/2018/2/layout/IconLabelList"/>
    <dgm:cxn modelId="{11E97E58-5FBB-4B0B-9560-24EEB7A1F350}" type="presParOf" srcId="{7F1A3DA9-A065-4EB4-8816-523992D9493A}" destId="{302447D7-45C9-4592-88C2-CF0D6FAA0F07}" srcOrd="4" destOrd="0" presId="urn:microsoft.com/office/officeart/2018/2/layout/IconLabelList"/>
    <dgm:cxn modelId="{B3E0C4E4-D3EA-4B5F-8F99-35965C876827}" type="presParOf" srcId="{302447D7-45C9-4592-88C2-CF0D6FAA0F07}" destId="{0AD4B425-16E5-473D-9CA1-0A4407C2AA39}" srcOrd="0" destOrd="0" presId="urn:microsoft.com/office/officeart/2018/2/layout/IconLabelList"/>
    <dgm:cxn modelId="{B88258C1-1D9F-409E-B6D7-5833622D43D0}" type="presParOf" srcId="{302447D7-45C9-4592-88C2-CF0D6FAA0F07}" destId="{6B5EB85B-C20A-4DE9-BFF7-C5A27324055F}" srcOrd="1" destOrd="0" presId="urn:microsoft.com/office/officeart/2018/2/layout/IconLabelList"/>
    <dgm:cxn modelId="{B1C1D495-1B58-4D49-B6F9-9EDB92184FA3}" type="presParOf" srcId="{302447D7-45C9-4592-88C2-CF0D6FAA0F07}" destId="{5008864E-D704-4B9B-8736-35BD3C6F158F}" srcOrd="2" destOrd="0" presId="urn:microsoft.com/office/officeart/2018/2/layout/IconLabelList"/>
    <dgm:cxn modelId="{779DF643-4F71-46A9-B664-0CD325CD0B05}" type="presParOf" srcId="{7F1A3DA9-A065-4EB4-8816-523992D9493A}" destId="{D209C246-4C80-4047-B51E-6A8957B78772}" srcOrd="5" destOrd="0" presId="urn:microsoft.com/office/officeart/2018/2/layout/IconLabelList"/>
    <dgm:cxn modelId="{43994551-323C-41EE-BBBB-84CCF87DEC01}" type="presParOf" srcId="{7F1A3DA9-A065-4EB4-8816-523992D9493A}" destId="{843E765D-0D78-4038-9683-2B3165863C9B}" srcOrd="6" destOrd="0" presId="urn:microsoft.com/office/officeart/2018/2/layout/IconLabelList"/>
    <dgm:cxn modelId="{1E2C27AF-1001-4EF8-A625-08807D4BDB15}" type="presParOf" srcId="{843E765D-0D78-4038-9683-2B3165863C9B}" destId="{7676200A-7CC3-4826-9E5A-673D4A3DDB03}" srcOrd="0" destOrd="0" presId="urn:microsoft.com/office/officeart/2018/2/layout/IconLabelList"/>
    <dgm:cxn modelId="{37B895F8-2F50-4C44-87A3-6EA503517044}" type="presParOf" srcId="{843E765D-0D78-4038-9683-2B3165863C9B}" destId="{B7E04713-2FBD-43CC-904B-4ADA1BDA18F3}" srcOrd="1" destOrd="0" presId="urn:microsoft.com/office/officeart/2018/2/layout/IconLabelList"/>
    <dgm:cxn modelId="{F1B15677-28D9-42B1-A59F-1CECD1FB2870}" type="presParOf" srcId="{843E765D-0D78-4038-9683-2B3165863C9B}" destId="{B7092EEF-2306-4750-9975-587BFD1A8E66}" srcOrd="2" destOrd="0" presId="urn:microsoft.com/office/officeart/2018/2/layout/IconLabelList"/>
    <dgm:cxn modelId="{7D20BBEF-A3DF-4384-BDA8-5705331B8D36}" type="presParOf" srcId="{7F1A3DA9-A065-4EB4-8816-523992D9493A}" destId="{96588B03-CF0A-4F67-8294-B65A8238CC42}" srcOrd="7" destOrd="0" presId="urn:microsoft.com/office/officeart/2018/2/layout/IconLabelList"/>
    <dgm:cxn modelId="{876100EE-2AF4-48C5-A74F-F006F65AF2A5}" type="presParOf" srcId="{7F1A3DA9-A065-4EB4-8816-523992D9493A}" destId="{2EDDBEF0-2574-4DD4-98FA-48B796B16E90}" srcOrd="8" destOrd="0" presId="urn:microsoft.com/office/officeart/2018/2/layout/IconLabelList"/>
    <dgm:cxn modelId="{DD464714-5692-4338-AF02-1D8E5D2E73C6}" type="presParOf" srcId="{2EDDBEF0-2574-4DD4-98FA-48B796B16E90}" destId="{C40ADFD4-02B7-4633-B637-4415EB80C4C4}" srcOrd="0" destOrd="0" presId="urn:microsoft.com/office/officeart/2018/2/layout/IconLabelList"/>
    <dgm:cxn modelId="{C192418D-C8BD-43C2-B0CC-0C550537B20C}" type="presParOf" srcId="{2EDDBEF0-2574-4DD4-98FA-48B796B16E90}" destId="{66F16C74-12AB-45EA-B438-2563ADAFE81A}" srcOrd="1" destOrd="0" presId="urn:microsoft.com/office/officeart/2018/2/layout/IconLabelList"/>
    <dgm:cxn modelId="{83653B64-075D-4D75-A3BA-6CEC3EC82241}" type="presParOf" srcId="{2EDDBEF0-2574-4DD4-98FA-48B796B16E90}" destId="{55160934-C560-4E85-B605-F7AD7EC5399D}" srcOrd="2" destOrd="0" presId="urn:microsoft.com/office/officeart/2018/2/layout/IconLabelList"/>
    <dgm:cxn modelId="{5631B0D7-731B-4802-ABA5-61A1DA36C052}" type="presParOf" srcId="{7F1A3DA9-A065-4EB4-8816-523992D9493A}" destId="{2A0D3AB7-58C1-4A45-A068-F4A245DFD216}" srcOrd="9" destOrd="0" presId="urn:microsoft.com/office/officeart/2018/2/layout/IconLabelList"/>
    <dgm:cxn modelId="{786FE28D-28CA-458A-B162-D6BD18C147E1}" type="presParOf" srcId="{7F1A3DA9-A065-4EB4-8816-523992D9493A}" destId="{66D4539B-0A49-4E6F-8900-C04CCCE542C4}" srcOrd="10" destOrd="0" presId="urn:microsoft.com/office/officeart/2018/2/layout/IconLabelList"/>
    <dgm:cxn modelId="{8315297E-CE99-4097-A151-891C5FCF132C}" type="presParOf" srcId="{66D4539B-0A49-4E6F-8900-C04CCCE542C4}" destId="{7497C770-661D-4C41-9753-9B19211ABFA0}" srcOrd="0" destOrd="0" presId="urn:microsoft.com/office/officeart/2018/2/layout/IconLabelList"/>
    <dgm:cxn modelId="{6D9F9803-A6F0-474A-AF20-CAF289280882}" type="presParOf" srcId="{66D4539B-0A49-4E6F-8900-C04CCCE542C4}" destId="{259661CF-77D4-4A92-8C9E-CA5A95582F18}" srcOrd="1" destOrd="0" presId="urn:microsoft.com/office/officeart/2018/2/layout/IconLabelList"/>
    <dgm:cxn modelId="{65E75D3D-CF54-49B4-AF04-E9CE99B6407C}" type="presParOf" srcId="{66D4539B-0A49-4E6F-8900-C04CCCE542C4}" destId="{3AB3DDDD-868B-4705-B7F9-36B22AF961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6F370-DE60-4D0A-B6BA-411BED27C616}">
      <dsp:nvSpPr>
        <dsp:cNvPr id="0" name=""/>
        <dsp:cNvSpPr/>
      </dsp:nvSpPr>
      <dsp:spPr>
        <a:xfrm>
          <a:off x="2642384" y="659360"/>
          <a:ext cx="5079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796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2902" y="702387"/>
        <a:ext cx="26928" cy="5385"/>
      </dsp:txXfrm>
    </dsp:sp>
    <dsp:sp modelId="{FC13841B-574D-4CDD-BA39-EFA22AD013F0}">
      <dsp:nvSpPr>
        <dsp:cNvPr id="0" name=""/>
        <dsp:cNvSpPr/>
      </dsp:nvSpPr>
      <dsp:spPr>
        <a:xfrm>
          <a:off x="302599" y="2604"/>
          <a:ext cx="2341585" cy="14049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 and prioritize safeguarding risks, including SEAH and child safeguarding risks, across KRCSS branches</a:t>
          </a:r>
        </a:p>
      </dsp:txBody>
      <dsp:txXfrm>
        <a:off x="302599" y="2604"/>
        <a:ext cx="2341585" cy="1404951"/>
      </dsp:txXfrm>
    </dsp:sp>
    <dsp:sp modelId="{B404675C-0921-49C0-8CB7-5270EAFC3B60}">
      <dsp:nvSpPr>
        <dsp:cNvPr id="0" name=""/>
        <dsp:cNvSpPr/>
      </dsp:nvSpPr>
      <dsp:spPr>
        <a:xfrm>
          <a:off x="1473392" y="1405755"/>
          <a:ext cx="2880149" cy="507964"/>
        </a:xfrm>
        <a:custGeom>
          <a:avLst/>
          <a:gdLst/>
          <a:ahLst/>
          <a:cxnLst/>
          <a:rect l="0" t="0" r="0" b="0"/>
          <a:pathLst>
            <a:path>
              <a:moveTo>
                <a:pt x="2880149" y="0"/>
              </a:moveTo>
              <a:lnTo>
                <a:pt x="2880149" y="271082"/>
              </a:lnTo>
              <a:lnTo>
                <a:pt x="0" y="271082"/>
              </a:lnTo>
              <a:lnTo>
                <a:pt x="0" y="507964"/>
              </a:lnTo>
            </a:path>
          </a:pathLst>
        </a:custGeom>
        <a:noFill/>
        <a:ln w="6350" cap="flat" cmpd="sng" algn="ctr">
          <a:solidFill>
            <a:schemeClr val="accent2">
              <a:hueOff val="521051"/>
              <a:satOff val="1589"/>
              <a:lumOff val="-11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0215" y="1657045"/>
        <a:ext cx="146503" cy="5385"/>
      </dsp:txXfrm>
    </dsp:sp>
    <dsp:sp modelId="{57F77087-74FD-499A-9A4D-41B938CA7236}">
      <dsp:nvSpPr>
        <dsp:cNvPr id="0" name=""/>
        <dsp:cNvSpPr/>
      </dsp:nvSpPr>
      <dsp:spPr>
        <a:xfrm>
          <a:off x="3182749" y="2604"/>
          <a:ext cx="2341585" cy="1404951"/>
        </a:xfrm>
        <a:prstGeom prst="rect">
          <a:avLst/>
        </a:prstGeom>
        <a:solidFill>
          <a:schemeClr val="accent2">
            <a:hueOff val="416841"/>
            <a:satOff val="1271"/>
            <a:lumOff val="-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 the effectiveness of existing safeguarding structures against internationally recognized safeguarding standards</a:t>
          </a:r>
        </a:p>
      </dsp:txBody>
      <dsp:txXfrm>
        <a:off x="3182749" y="2604"/>
        <a:ext cx="2341585" cy="1404951"/>
      </dsp:txXfrm>
    </dsp:sp>
    <dsp:sp modelId="{9A93C371-733D-4649-82CA-E121270707AC}">
      <dsp:nvSpPr>
        <dsp:cNvPr id="0" name=""/>
        <dsp:cNvSpPr/>
      </dsp:nvSpPr>
      <dsp:spPr>
        <a:xfrm>
          <a:off x="2642384" y="2602875"/>
          <a:ext cx="5079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7964" y="45720"/>
              </a:lnTo>
            </a:path>
          </a:pathLst>
        </a:custGeom>
        <a:noFill/>
        <a:ln w="6350" cap="flat" cmpd="sng" algn="ctr">
          <a:solidFill>
            <a:schemeClr val="accent2">
              <a:hueOff val="1042102"/>
              <a:satOff val="3177"/>
              <a:lumOff val="-22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2902" y="2645903"/>
        <a:ext cx="26928" cy="5385"/>
      </dsp:txXfrm>
    </dsp:sp>
    <dsp:sp modelId="{1C1D0396-BCC7-42DF-B2EA-D76FDB993129}">
      <dsp:nvSpPr>
        <dsp:cNvPr id="0" name=""/>
        <dsp:cNvSpPr/>
      </dsp:nvSpPr>
      <dsp:spPr>
        <a:xfrm>
          <a:off x="302599" y="1946120"/>
          <a:ext cx="2341585" cy="1404951"/>
        </a:xfrm>
        <a:prstGeom prst="rect">
          <a:avLst/>
        </a:prstGeom>
        <a:solidFill>
          <a:schemeClr val="accent2">
            <a:hueOff val="833681"/>
            <a:satOff val="2542"/>
            <a:lumOff val="-1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Assess branch-compliance level with organizational safeguarding policies and donor safeguarding requirements</a:t>
          </a:r>
        </a:p>
      </dsp:txBody>
      <dsp:txXfrm>
        <a:off x="302599" y="1946120"/>
        <a:ext cx="2341585" cy="1404951"/>
      </dsp:txXfrm>
    </dsp:sp>
    <dsp:sp modelId="{2A0DDD02-60D7-478F-B45F-36A8E3F8F88C}">
      <dsp:nvSpPr>
        <dsp:cNvPr id="0" name=""/>
        <dsp:cNvSpPr/>
      </dsp:nvSpPr>
      <dsp:spPr>
        <a:xfrm>
          <a:off x="1473392" y="3349271"/>
          <a:ext cx="2880149" cy="507964"/>
        </a:xfrm>
        <a:custGeom>
          <a:avLst/>
          <a:gdLst/>
          <a:ahLst/>
          <a:cxnLst/>
          <a:rect l="0" t="0" r="0" b="0"/>
          <a:pathLst>
            <a:path>
              <a:moveTo>
                <a:pt x="2880149" y="0"/>
              </a:moveTo>
              <a:lnTo>
                <a:pt x="2880149" y="271082"/>
              </a:lnTo>
              <a:lnTo>
                <a:pt x="0" y="271082"/>
              </a:lnTo>
              <a:lnTo>
                <a:pt x="0" y="507964"/>
              </a:lnTo>
            </a:path>
          </a:pathLst>
        </a:custGeom>
        <a:noFill/>
        <a:ln w="6350" cap="flat" cmpd="sng" algn="ctr">
          <a:solidFill>
            <a:schemeClr val="accent2">
              <a:hueOff val="1563152"/>
              <a:satOff val="4766"/>
              <a:lumOff val="-33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0215" y="3600561"/>
        <a:ext cx="146503" cy="5385"/>
      </dsp:txXfrm>
    </dsp:sp>
    <dsp:sp modelId="{49188D9C-F216-4D4C-BD4B-D44D70261C72}">
      <dsp:nvSpPr>
        <dsp:cNvPr id="0" name=""/>
        <dsp:cNvSpPr/>
      </dsp:nvSpPr>
      <dsp:spPr>
        <a:xfrm>
          <a:off x="3182749" y="1946120"/>
          <a:ext cx="2341585" cy="1404951"/>
        </a:xfrm>
        <a:prstGeom prst="rect">
          <a:avLst/>
        </a:prstGeom>
        <a:solidFill>
          <a:schemeClr val="accent2">
            <a:hueOff val="1250522"/>
            <a:satOff val="3813"/>
            <a:lumOff val="-27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Establish capacity gaps in prevention, reporting, and response mechanisms</a:t>
          </a:r>
        </a:p>
      </dsp:txBody>
      <dsp:txXfrm>
        <a:off x="3182749" y="1946120"/>
        <a:ext cx="2341585" cy="1404951"/>
      </dsp:txXfrm>
    </dsp:sp>
    <dsp:sp modelId="{8DB8C95A-CCFA-4B2A-9919-3374A5816E89}">
      <dsp:nvSpPr>
        <dsp:cNvPr id="0" name=""/>
        <dsp:cNvSpPr/>
      </dsp:nvSpPr>
      <dsp:spPr>
        <a:xfrm>
          <a:off x="2642384" y="4546391"/>
          <a:ext cx="5079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7964" y="45720"/>
              </a:lnTo>
            </a:path>
          </a:pathLst>
        </a:custGeom>
        <a:noFill/>
        <a:ln w="6350" cap="flat" cmpd="sng" algn="ctr">
          <a:solidFill>
            <a:schemeClr val="accent2">
              <a:hueOff val="2084203"/>
              <a:satOff val="6355"/>
              <a:lumOff val="-451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2902" y="4589418"/>
        <a:ext cx="26928" cy="5385"/>
      </dsp:txXfrm>
    </dsp:sp>
    <dsp:sp modelId="{B29A3980-6EC5-4A35-8233-A9AF0454DFC2}">
      <dsp:nvSpPr>
        <dsp:cNvPr id="0" name=""/>
        <dsp:cNvSpPr/>
      </dsp:nvSpPr>
      <dsp:spPr>
        <a:xfrm>
          <a:off x="302599" y="3889636"/>
          <a:ext cx="2341585" cy="1404951"/>
        </a:xfrm>
        <a:prstGeom prst="rect">
          <a:avLst/>
        </a:prstGeom>
        <a:solidFill>
          <a:schemeClr val="accent2">
            <a:hueOff val="1667362"/>
            <a:satOff val="5084"/>
            <a:lumOff val="-36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Establish a baseline for measuring safeguarding maturity improvements over time</a:t>
          </a:r>
        </a:p>
      </dsp:txBody>
      <dsp:txXfrm>
        <a:off x="302599" y="3889636"/>
        <a:ext cx="2341585" cy="1404951"/>
      </dsp:txXfrm>
    </dsp:sp>
    <dsp:sp modelId="{2765BD18-9068-4FAE-8128-617A6A163833}">
      <dsp:nvSpPr>
        <dsp:cNvPr id="0" name=""/>
        <dsp:cNvSpPr/>
      </dsp:nvSpPr>
      <dsp:spPr>
        <a:xfrm>
          <a:off x="3182749" y="3889636"/>
          <a:ext cx="2341585" cy="1404951"/>
        </a:xfrm>
        <a:prstGeom prst="rect">
          <a:avLst/>
        </a:prstGeom>
        <a:solidFill>
          <a:schemeClr val="accent2">
            <a:hueOff val="2084203"/>
            <a:satOff val="6355"/>
            <a:lumOff val="-45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40" tIns="120439" rIns="114740" bIns="12043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Inform prioritization and resourcing decisions for Quarter 1–2 </a:t>
          </a:r>
        </a:p>
      </dsp:txBody>
      <dsp:txXfrm>
        <a:off x="3182749" y="3889636"/>
        <a:ext cx="2341585" cy="14049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E413E-8FB7-4575-80E7-563C2D05C1E6}">
      <dsp:nvSpPr>
        <dsp:cNvPr id="0" name=""/>
        <dsp:cNvSpPr/>
      </dsp:nvSpPr>
      <dsp:spPr>
        <a:xfrm>
          <a:off x="0" y="163347"/>
          <a:ext cx="10515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OVERALL RISK POSTURE: </a:t>
          </a:r>
          <a:r>
            <a:rPr lang="en-US" sz="2100" b="1" kern="1200"/>
            <a:t>Medium (with several High-risk exposures)</a:t>
          </a:r>
          <a:endParaRPr lang="en-US" sz="2100" kern="1200"/>
        </a:p>
      </dsp:txBody>
      <dsp:txXfrm>
        <a:off x="24588" y="187935"/>
        <a:ext cx="10466424" cy="454509"/>
      </dsp:txXfrm>
    </dsp:sp>
    <dsp:sp modelId="{BD783C43-8D27-414E-BC98-2546EA3361BE}">
      <dsp:nvSpPr>
        <dsp:cNvPr id="0" name=""/>
        <dsp:cNvSpPr/>
      </dsp:nvSpPr>
      <dsp:spPr>
        <a:xfrm>
          <a:off x="0" y="727512"/>
          <a:ext cx="10515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STRENGTHS: </a:t>
          </a:r>
        </a:p>
      </dsp:txBody>
      <dsp:txXfrm>
        <a:off x="24588" y="752100"/>
        <a:ext cx="10466424" cy="454509"/>
      </dsp:txXfrm>
    </dsp:sp>
    <dsp:sp modelId="{A2FF499C-9943-4DDE-AE43-CFC485099A9E}">
      <dsp:nvSpPr>
        <dsp:cNvPr id="0" name=""/>
        <dsp:cNvSpPr/>
      </dsp:nvSpPr>
      <dsp:spPr>
        <a:xfrm>
          <a:off x="0" y="1231197"/>
          <a:ext cx="1051560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Active safeguarding champions conducting safeguarding sensitization and policy dissemination sessions.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Growing awareness of safeguarding obligations among branch leadership, staff, and volunteers.</a:t>
          </a:r>
        </a:p>
      </dsp:txBody>
      <dsp:txXfrm>
        <a:off x="0" y="1231197"/>
        <a:ext cx="10515600" cy="554242"/>
      </dsp:txXfrm>
    </dsp:sp>
    <dsp:sp modelId="{484146FF-0D06-426C-839B-73488C7036CD}">
      <dsp:nvSpPr>
        <dsp:cNvPr id="0" name=""/>
        <dsp:cNvSpPr/>
      </dsp:nvSpPr>
      <dsp:spPr>
        <a:xfrm>
          <a:off x="0" y="1785440"/>
          <a:ext cx="10515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CRITICAL GAPS: </a:t>
          </a:r>
        </a:p>
      </dsp:txBody>
      <dsp:txXfrm>
        <a:off x="24588" y="1810028"/>
        <a:ext cx="10466424" cy="454509"/>
      </dsp:txXfrm>
    </dsp:sp>
    <dsp:sp modelId="{627ADF08-D203-4924-BE12-9EC90774C21D}">
      <dsp:nvSpPr>
        <dsp:cNvPr id="0" name=""/>
        <dsp:cNvSpPr/>
      </dsp:nvSpPr>
      <dsp:spPr>
        <a:xfrm>
          <a:off x="0" y="2289125"/>
          <a:ext cx="10515600" cy="136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Limited governance engagement; safeguarding is rarely discussed in Board minutes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Lack of  documentation of sensitization efforts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IEC materials are absent in several branches assessed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Gaps in survivor-centered response capacity and referral pathways.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Uneven safeguarding training coverage among staff and volunteers (including mandatory courses)</a:t>
          </a:r>
        </a:p>
      </dsp:txBody>
      <dsp:txXfrm>
        <a:off x="0" y="2289125"/>
        <a:ext cx="10515600" cy="13693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2B14D-FA3A-49C6-B73A-2079C7156078}">
      <dsp:nvSpPr>
        <dsp:cNvPr id="0" name=""/>
        <dsp:cNvSpPr/>
      </dsp:nvSpPr>
      <dsp:spPr>
        <a:xfrm>
          <a:off x="479599" y="440171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90A38-A4C4-4191-B639-001CD1E09315}">
      <dsp:nvSpPr>
        <dsp:cNvPr id="0" name=""/>
        <dsp:cNvSpPr/>
      </dsp:nvSpPr>
      <dsp:spPr>
        <a:xfrm>
          <a:off x="1518" y="1540317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Mandate safeguarding as a standing agenda item for all board meetings with documented action points reviewed quarterly by the Board Chair.</a:t>
          </a:r>
        </a:p>
      </dsp:txBody>
      <dsp:txXfrm>
        <a:off x="1518" y="1540317"/>
        <a:ext cx="1738476" cy="890969"/>
      </dsp:txXfrm>
    </dsp:sp>
    <dsp:sp modelId="{D825A245-376B-4922-9738-9C55E51997DF}">
      <dsp:nvSpPr>
        <dsp:cNvPr id="0" name=""/>
        <dsp:cNvSpPr/>
      </dsp:nvSpPr>
      <dsp:spPr>
        <a:xfrm>
          <a:off x="2522309" y="440171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5080E-FDFB-42DE-BE19-429058B477DC}">
      <dsp:nvSpPr>
        <dsp:cNvPr id="0" name=""/>
        <dsp:cNvSpPr/>
      </dsp:nvSpPr>
      <dsp:spPr>
        <a:xfrm>
          <a:off x="2044228" y="1540317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Appoint Safeguarding Champions at  Boards and Branch level</a:t>
          </a:r>
        </a:p>
      </dsp:txBody>
      <dsp:txXfrm>
        <a:off x="2044228" y="1540317"/>
        <a:ext cx="1738476" cy="890969"/>
      </dsp:txXfrm>
    </dsp:sp>
    <dsp:sp modelId="{0AD4B425-16E5-473D-9CA1-0A4407C2AA39}">
      <dsp:nvSpPr>
        <dsp:cNvPr id="0" name=""/>
        <dsp:cNvSpPr/>
      </dsp:nvSpPr>
      <dsp:spPr>
        <a:xfrm>
          <a:off x="4565019" y="440171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8864E-D704-4B9B-8736-35BD3C6F158F}">
      <dsp:nvSpPr>
        <dsp:cNvPr id="0" name=""/>
        <dsp:cNvSpPr/>
      </dsp:nvSpPr>
      <dsp:spPr>
        <a:xfrm>
          <a:off x="4086938" y="1540317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 Referral Directories for all branches</a:t>
          </a:r>
        </a:p>
      </dsp:txBody>
      <dsp:txXfrm>
        <a:off x="4086938" y="1540317"/>
        <a:ext cx="1738476" cy="890969"/>
      </dsp:txXfrm>
    </dsp:sp>
    <dsp:sp modelId="{7676200A-7CC3-4826-9E5A-673D4A3DDB03}">
      <dsp:nvSpPr>
        <dsp:cNvPr id="0" name=""/>
        <dsp:cNvSpPr/>
      </dsp:nvSpPr>
      <dsp:spPr>
        <a:xfrm>
          <a:off x="479599" y="2865905"/>
          <a:ext cx="782314" cy="7823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92EEF-2306-4750-9975-587BFD1A8E66}">
      <dsp:nvSpPr>
        <dsp:cNvPr id="0" name=""/>
        <dsp:cNvSpPr/>
      </dsp:nvSpPr>
      <dsp:spPr>
        <a:xfrm>
          <a:off x="1518" y="3966051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Tracking of the mandatory courses completion</a:t>
          </a:r>
        </a:p>
      </dsp:txBody>
      <dsp:txXfrm>
        <a:off x="1518" y="3966051"/>
        <a:ext cx="1738476" cy="890969"/>
      </dsp:txXfrm>
    </dsp:sp>
    <dsp:sp modelId="{C40ADFD4-02B7-4633-B637-4415EB80C4C4}">
      <dsp:nvSpPr>
        <dsp:cNvPr id="0" name=""/>
        <dsp:cNvSpPr/>
      </dsp:nvSpPr>
      <dsp:spPr>
        <a:xfrm>
          <a:off x="2522309" y="2865905"/>
          <a:ext cx="782314" cy="7823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60934-C560-4E85-B605-F7AD7EC5399D}">
      <dsp:nvSpPr>
        <dsp:cNvPr id="0" name=""/>
        <dsp:cNvSpPr/>
      </dsp:nvSpPr>
      <dsp:spPr>
        <a:xfrm>
          <a:off x="2044228" y="3966051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Documentation of  safeguarding sensitization sessions conducted</a:t>
          </a:r>
        </a:p>
      </dsp:txBody>
      <dsp:txXfrm>
        <a:off x="2044228" y="3966051"/>
        <a:ext cx="1738476" cy="890969"/>
      </dsp:txXfrm>
    </dsp:sp>
    <dsp:sp modelId="{7497C770-661D-4C41-9753-9B19211ABFA0}">
      <dsp:nvSpPr>
        <dsp:cNvPr id="0" name=""/>
        <dsp:cNvSpPr/>
      </dsp:nvSpPr>
      <dsp:spPr>
        <a:xfrm>
          <a:off x="4565019" y="2865905"/>
          <a:ext cx="782314" cy="7823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3DDDD-868B-4705-B7F9-36B22AF96118}">
      <dsp:nvSpPr>
        <dsp:cNvPr id="0" name=""/>
        <dsp:cNvSpPr/>
      </dsp:nvSpPr>
      <dsp:spPr>
        <a:xfrm>
          <a:off x="4086938" y="3966051"/>
          <a:ext cx="1738476" cy="890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Include safeguarding risks in the Branch/Project Risk Registers</a:t>
          </a:r>
        </a:p>
      </dsp:txBody>
      <dsp:txXfrm>
        <a:off x="4086938" y="3966051"/>
        <a:ext cx="1738476" cy="890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2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9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3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3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4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1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2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3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" name="Picture 2" descr="A group of wooden figures in a circle&#10;&#10;AI-generated content may be incorrect.">
            <a:extLst>
              <a:ext uri="{FF2B5EF4-FFF2-40B4-BE49-F238E27FC236}">
                <a16:creationId xmlns:a16="http://schemas.microsoft.com/office/drawing/2014/main" id="{CB8D0C15-9E11-AB24-C139-2EC7281301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8157" r="-1" b="1465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4FBEBF3-C941-4CB0-8AC2-3B50E1371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B60218-26CC-4B05-BC22-7DC19E74A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5846"/>
            <a:ext cx="4826498" cy="3610622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Institutionalizing Safeguarding In Kenya Red Cross Society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06F760-72FD-4B1A-9E74-C12F7457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56143"/>
            <a:ext cx="4826498" cy="1327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Safeguarding Risk Assessment Findings: Q4 2025</a:t>
            </a:r>
          </a:p>
        </p:txBody>
      </p:sp>
    </p:spTree>
    <p:extLst>
      <p:ext uri="{BB962C8B-B14F-4D97-AF65-F5344CB8AC3E}">
        <p14:creationId xmlns:p14="http://schemas.microsoft.com/office/powerpoint/2010/main" val="164997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A3A17-75C2-20B2-21C8-8DE450C7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en-US" sz="5200"/>
              <a:t>Objectives of the Asessment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848145-E8A6-7994-103C-9F312E1C2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928786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278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94C6EB-0BD0-4926-909B-CE0EFF45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7" y="-1"/>
            <a:ext cx="12195239" cy="6857996"/>
            <a:chOff x="1667" y="-1"/>
            <a:chExt cx="12195239" cy="685799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D8D9AC5-1A8B-4F43-99E1-1D51CFFCF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49B524-B22D-40A1-81F7-459441A7E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906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8CCE87E-3564-469A-9A46-F794A0F94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C96A98-5EF6-4542-9FA4-86B1D2651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3BF088B1-D6D6-4925-9B48-5098FF09D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33">
              <a:extLst>
                <a:ext uri="{FF2B5EF4-FFF2-40B4-BE49-F238E27FC236}">
                  <a16:creationId xmlns:a16="http://schemas.microsoft.com/office/drawing/2014/main" id="{6FA7DFD7-863A-4016-A231-DCB28B20D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DF2CD7-4CF5-9611-DF9D-72BFD3AA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727"/>
            <a:ext cx="8648158" cy="1495887"/>
          </a:xfrm>
        </p:spPr>
        <p:txBody>
          <a:bodyPr>
            <a:normAutofit/>
          </a:bodyPr>
          <a:lstStyle/>
          <a:p>
            <a:r>
              <a:rPr lang="en-US"/>
              <a:t>ASSESSMENT OVERVIEW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E86CF8B9-EB76-C9FF-77E2-9BC5A887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8648158" cy="3430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/>
              <a:t>Comprehensive safeguarding risk assessment conducted across </a:t>
            </a:r>
            <a:r>
              <a:rPr lang="en-US" sz="1400" b="1"/>
              <a:t>28 KRCS branches</a:t>
            </a:r>
          </a:p>
          <a:p>
            <a:pPr>
              <a:lnSpc>
                <a:spcPct val="100000"/>
              </a:lnSpc>
            </a:pPr>
            <a:r>
              <a:rPr lang="en-US" sz="1400"/>
              <a:t>Assessment period: </a:t>
            </a:r>
            <a:r>
              <a:rPr lang="en-US" sz="1400" b="1"/>
              <a:t>October - November 2025</a:t>
            </a:r>
          </a:p>
          <a:p>
            <a:pPr>
              <a:lnSpc>
                <a:spcPct val="100000"/>
              </a:lnSpc>
            </a:pPr>
            <a:r>
              <a:rPr lang="en-US" sz="1600"/>
              <a:t>Geographic</a:t>
            </a:r>
            <a:r>
              <a:rPr lang="en-US" sz="1400"/>
              <a:t> coverage: 7 regions (</a:t>
            </a:r>
            <a:r>
              <a:rPr lang="en-US" sz="1400" b="1"/>
              <a:t>Coast, West Kenya, Central, Upper Eastern, </a:t>
            </a:r>
            <a:r>
              <a:rPr lang="en-US" sz="1400" b="1" err="1"/>
              <a:t>LLower</a:t>
            </a:r>
            <a:r>
              <a:rPr lang="en-US" sz="1400" b="1"/>
              <a:t> Eastern, South Rift, North Rift</a:t>
            </a:r>
            <a:r>
              <a:rPr lang="en-US" sz="1400"/>
              <a:t>)</a:t>
            </a:r>
          </a:p>
          <a:p>
            <a:pPr>
              <a:lnSpc>
                <a:spcPct val="100000"/>
              </a:lnSpc>
            </a:pPr>
            <a:r>
              <a:rPr lang="en-US" sz="1400"/>
              <a:t> Tool used: KRCS Safeguarding Risk Assessment Tool (adapted from IFRC Safeguarding Framework)</a:t>
            </a:r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Data collection: Structured interviews with County Coordinators, Administrators, and Safeguarding Champions; review of board minutes, verification of training completion, Sampling of volunteer files, and IEC visibility checks and referral directories review, spot-checks of displays</a:t>
            </a:r>
          </a:p>
          <a:p>
            <a:pPr>
              <a:lnSpc>
                <a:spcPct val="100000"/>
              </a:lnSpc>
            </a:pPr>
            <a:r>
              <a:rPr lang="en-US" sz="1400"/>
              <a:t>Four key pillars assessed: </a:t>
            </a:r>
            <a:r>
              <a:rPr lang="en-US" sz="1400" b="1"/>
              <a:t>Leadership, Recognition and Prevention, Reporting, Survivor Assistance</a:t>
            </a:r>
          </a:p>
          <a:p>
            <a:pPr>
              <a:lnSpc>
                <a:spcPct val="100000"/>
              </a:lnSpc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906891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5F0E-8CF6-AEBD-9C53-84C7313D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FNDINGS AT A GLANCE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4BD50-6704-6FEF-4D61-1DEA954993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89408"/>
          <a:ext cx="10515600" cy="3821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909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6A4AE4-5520-4815-852D-CB05E9F5A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229F6CD-5D84-4EEB-B66D-84415969A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4BD253-E9E1-473E-88AD-E22D668B9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911447-A6C3-48A4-91A8-DAEDB7FF41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EAE0C5-340D-416D-9DE8-4A7367049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C0FED11B-5B5E-48CF-810B-4BA77BBDF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D75A73DE-5BA7-44CE-A718-52385E65D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197DFF-3832-F34A-20E6-C6EFA82B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5734"/>
            <a:ext cx="8648158" cy="1417880"/>
          </a:xfrm>
        </p:spPr>
        <p:txBody>
          <a:bodyPr>
            <a:normAutofit/>
          </a:bodyPr>
          <a:lstStyle/>
          <a:p>
            <a:r>
              <a:rPr lang="en-US" b="1"/>
              <a:t>Areas Assessed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D3A7-8244-F943-D760-E73D76A7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8648158" cy="343057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b="1"/>
              <a:t>Pillar</a:t>
            </a:r>
            <a:r>
              <a:rPr lang="en-US" sz="1400" b="1"/>
              <a:t> 1: Leadership and Organizational Culture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Safeguarding is discussed in Board meetings with documented safeguarding agenda items and action points </a:t>
            </a:r>
            <a:endParaRPr lang="en-US" sz="14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Staff/volunteers/partners are aware of the safeguarding policies and know where to find them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/>
              <a:t>Pillar 2: Recognition and Prevention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/>
              <a:t>Staff</a:t>
            </a:r>
            <a:r>
              <a:rPr lang="en-US" sz="1400">
                <a:ea typeface="+mn-lt"/>
                <a:cs typeface="+mn-lt"/>
              </a:rPr>
              <a:t>/Volunteers completing mandatory safeguarding trainings and they are tracked</a:t>
            </a:r>
            <a:endParaRPr lang="en-US" sz="14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All staff/volunteers/ contractors sign the Code of conduct 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/>
              <a:t>Pillar 3: Reporting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Safeguarding IECS (PSEAH, Child Safeguarding, Reporting) available and displayed</a:t>
            </a:r>
            <a:endParaRPr lang="en-US" sz="14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Safeguarding awareness sessions were conducted for staff and volunteers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/>
              <a:t>Pillar 4: Support to Survivors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Updated SEAH/GBV referral directories 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6180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DA4186-2ABB-DFF0-6EA6-603B8691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6" y="727323"/>
            <a:ext cx="4818204" cy="1191178"/>
          </a:xfrm>
        </p:spPr>
        <p:txBody>
          <a:bodyPr>
            <a:normAutofit/>
          </a:bodyPr>
          <a:lstStyle/>
          <a:p>
            <a:r>
              <a:rPr lang="en-US"/>
              <a:t>SCORING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E405-AEAE-1EB2-8CFD-A354C0FCB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6525"/>
            <a:ext cx="4933950" cy="34305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Scoring </a:t>
            </a:r>
            <a:r>
              <a:rPr lang="en-US" sz="2000"/>
              <a:t>methodology</a:t>
            </a:r>
            <a:r>
              <a:rPr lang="en-US"/>
              <a:t>: Three-tier rating </a:t>
            </a:r>
            <a:r>
              <a:rPr lang="en-US" err="1"/>
              <a:t>systemm</a:t>
            </a:r>
            <a:r>
              <a:rPr lang="en-US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Score 2 (Fully compliant/Low Risk): Evidence of systematic implementation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Score 1 (Partially compliant/Medium Risk): Ad hoc implementation or incomplete evidence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Score 0 (Non-compliant/High Risk): Absence of practice or evidence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BC77C363-6D2A-8CE7-4252-1396ABFED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5260" y="1016317"/>
            <a:ext cx="4824168" cy="482416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6AAE01-AAA4-0BBC-F0F2-83C08A96F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866257"/>
              </p:ext>
            </p:extLst>
          </p:nvPr>
        </p:nvGraphicFramePr>
        <p:xfrm>
          <a:off x="841057" y="4896284"/>
          <a:ext cx="4780848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0424">
                  <a:extLst>
                    <a:ext uri="{9D8B030D-6E8A-4147-A177-3AD203B41FA5}">
                      <a16:colId xmlns:a16="http://schemas.microsoft.com/office/drawing/2014/main" val="931690047"/>
                    </a:ext>
                  </a:extLst>
                </a:gridCol>
                <a:gridCol w="2390424">
                  <a:extLst>
                    <a:ext uri="{9D8B030D-6E8A-4147-A177-3AD203B41FA5}">
                      <a16:colId xmlns:a16="http://schemas.microsoft.com/office/drawing/2014/main" val="394407853"/>
                    </a:ext>
                  </a:extLst>
                </a:gridCol>
              </a:tblGrid>
              <a:tr h="27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E" b="1" ker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Risk Level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E" b="1" ker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Score Range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28748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Low Risk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17–21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14012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Medium Risk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12–16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45938"/>
                  </a:ext>
                </a:extLst>
              </a:tr>
              <a:tr h="27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High Risk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7–11</a:t>
                      </a:r>
                      <a:endParaRPr lang="en-KE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97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3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1F55A-55F1-C66E-37C2-9B3EA01A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Risk Distribution Across 28 Branches</a:t>
            </a:r>
          </a:p>
          <a:p>
            <a:endParaRPr lang="en-US"/>
          </a:p>
        </p:txBody>
      </p:sp>
      <p:pic>
        <p:nvPicPr>
          <p:cNvPr id="7" name="Picture 6" descr="A yellow rectangular sign with black text&#10;&#10;AI-generated content may be incorrect.">
            <a:extLst>
              <a:ext uri="{FF2B5EF4-FFF2-40B4-BE49-F238E27FC236}">
                <a16:creationId xmlns:a16="http://schemas.microsoft.com/office/drawing/2014/main" id="{73186E99-74F7-A083-804E-D2593C26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91" y="2424296"/>
            <a:ext cx="10267629" cy="226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2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DF692-800F-29AF-1214-E5B96C33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265"/>
            <a:ext cx="4114800" cy="5695398"/>
          </a:xfrm>
        </p:spPr>
        <p:txBody>
          <a:bodyPr anchor="ctr">
            <a:normAutofit/>
          </a:bodyPr>
          <a:lstStyle/>
          <a:p>
            <a:r>
              <a:rPr lang="en-US" sz="5200"/>
              <a:t>LOW RISK BRANCHES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46307A-DFE3-4A97-B2EE-5D57DF413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6275" y="577406"/>
            <a:ext cx="6391931" cy="569539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277446-D71D-4C19-A013-95073D31A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6455" y="-6437"/>
            <a:ext cx="6405880" cy="6864437"/>
            <a:chOff x="5166455" y="-6437"/>
            <a:chExt cx="6405880" cy="686443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645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057BAF9-1A72-414E-8B1A-C58B353F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8FCD6AB-4E6B-4F74-94C0-C14654F99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A074CE-BCE3-E071-6EFA-3B82CD0E8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711397"/>
              </p:ext>
            </p:extLst>
          </p:nvPr>
        </p:nvGraphicFramePr>
        <p:xfrm>
          <a:off x="5925098" y="1278894"/>
          <a:ext cx="4899089" cy="3236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3190">
                  <a:extLst>
                    <a:ext uri="{9D8B030D-6E8A-4147-A177-3AD203B41FA5}">
                      <a16:colId xmlns:a16="http://schemas.microsoft.com/office/drawing/2014/main" val="1787300880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094952665"/>
                    </a:ext>
                  </a:extLst>
                </a:gridCol>
                <a:gridCol w="1268159">
                  <a:extLst>
                    <a:ext uri="{9D8B030D-6E8A-4147-A177-3AD203B41FA5}">
                      <a16:colId xmlns:a16="http://schemas.microsoft.com/office/drawing/2014/main" val="338660254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Mombasa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19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428468291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Baringo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19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425599429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Kilifi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18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297763928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Nakuru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18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89504307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Narok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18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2920998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Kajiado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17</a:t>
                      </a:r>
                    </a:p>
                  </a:txBody>
                  <a:tcPr marL="125730" marR="1257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Low</a:t>
                      </a:r>
                    </a:p>
                  </a:txBody>
                  <a:tcPr marL="125730" marR="125730" marT="0" marB="0"/>
                </a:tc>
                <a:extLst>
                  <a:ext uri="{0D108BD9-81ED-4DB2-BD59-A6C34878D82A}">
                    <a16:rowId xmlns:a16="http://schemas.microsoft.com/office/drawing/2014/main" val="64246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40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889A9FB7-76F4-7998-5F64-E4D127CDB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171"/>
          <a:stretch>
            <a:fillRect/>
          </a:stretch>
        </p:blipFill>
        <p:spPr>
          <a:xfrm>
            <a:off x="1" y="10"/>
            <a:ext cx="11561612" cy="6857990"/>
          </a:xfrm>
          <a:prstGeom prst="rect">
            <a:avLst/>
          </a:prstGeom>
          <a:ln w="12700">
            <a:noFill/>
          </a:ln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19CDFD-2FDC-46EE-9A4C-57D5B40E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8132657" y="3424306"/>
            <a:ext cx="685791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47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F8F23-5B0B-DC44-9C77-81096EF3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265"/>
            <a:ext cx="4114800" cy="5695398"/>
          </a:xfrm>
        </p:spPr>
        <p:txBody>
          <a:bodyPr anchor="ctr">
            <a:normAutofit/>
          </a:bodyPr>
          <a:lstStyle/>
          <a:p>
            <a:r>
              <a:rPr lang="en-US" sz="4000"/>
              <a:t>Recommendations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46307A-DFE3-4A97-B2EE-5D57DF413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6275" y="577406"/>
            <a:ext cx="6391931" cy="569539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277446-D71D-4C19-A013-95073D31A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6455" y="-6437"/>
            <a:ext cx="6405880" cy="6864437"/>
            <a:chOff x="5166455" y="-6437"/>
            <a:chExt cx="6405880" cy="686443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645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057BAF9-1A72-414E-8B1A-C58B353F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FCD6AB-4E6B-4F74-94C0-C14654F99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FB57017-D2C2-DA16-B8D8-0A5813CE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395384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4847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white speech bubble with different languages&#10;&#10;AI-generated content may be incorrect.">
            <a:extLst>
              <a:ext uri="{FF2B5EF4-FFF2-40B4-BE49-F238E27FC236}">
                <a16:creationId xmlns:a16="http://schemas.microsoft.com/office/drawing/2014/main" id="{27B3D816-953A-74F8-8ACD-B670F7DE1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70"/>
          <a:stretch>
            <a:fillRect/>
          </a:stretch>
        </p:blipFill>
        <p:spPr>
          <a:xfrm>
            <a:off x="1" y="10"/>
            <a:ext cx="11561612" cy="6857990"/>
          </a:xfrm>
          <a:prstGeom prst="rect">
            <a:avLst/>
          </a:prstGeom>
          <a:ln w="12700">
            <a:noFill/>
          </a:ln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19CDFD-2FDC-46EE-9A4C-57D5B40E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8132657" y="3424306"/>
            <a:ext cx="685791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229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Avenir Next LT Pro</vt:lpstr>
      <vt:lpstr>AvenirNext LT Pro Medium</vt:lpstr>
      <vt:lpstr>Courier New</vt:lpstr>
      <vt:lpstr>Footlight MT Light</vt:lpstr>
      <vt:lpstr>Times New Roman</vt:lpstr>
      <vt:lpstr>ArchVTI</vt:lpstr>
      <vt:lpstr>Institutionalizing Safeguarding In Kenya Red Cross Society</vt:lpstr>
      <vt:lpstr>Objectives of the Asessment</vt:lpstr>
      <vt:lpstr>ASSESSMENT OVERVIEW</vt:lpstr>
      <vt:lpstr>KEY FNDINGS AT A GLANCE</vt:lpstr>
      <vt:lpstr>Areas Assessed</vt:lpstr>
      <vt:lpstr>SCORING CRITERIA</vt:lpstr>
      <vt:lpstr>Overall Risk Distribution Across 28 Branches </vt:lpstr>
      <vt:lpstr>LOW RISK BRANCHES</vt:lpstr>
      <vt:lpstr>PowerPoint Presentation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Institutionalizing Safeguarding In Kenya Red Cross Society</dc:title>
  <dc:creator>Charlene Nasimiyu</dc:creator>
  <cp:lastModifiedBy>Janet Maliti</cp:lastModifiedBy>
  <cp:revision>3</cp:revision>
  <dcterms:created xsi:type="dcterms:W3CDTF">2026-04-07T06:01:28Z</dcterms:created>
  <dcterms:modified xsi:type="dcterms:W3CDTF">2026-04-07T08:03:14Z</dcterms:modified>
</cp:coreProperties>
</file>