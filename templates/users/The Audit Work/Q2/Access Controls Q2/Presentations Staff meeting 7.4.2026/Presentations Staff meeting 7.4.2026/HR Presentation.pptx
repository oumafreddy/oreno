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59" r:id="rId2"/>
  </p:sldMasterIdLst>
  <p:notesMasterIdLst>
    <p:notesMasterId r:id="rId10"/>
  </p:notesMasterIdLst>
  <p:sldIdLst>
    <p:sldId id="261" r:id="rId3"/>
    <p:sldId id="263" r:id="rId4"/>
    <p:sldId id="277" r:id="rId5"/>
    <p:sldId id="281" r:id="rId6"/>
    <p:sldId id="283" r:id="rId7"/>
    <p:sldId id="278" r:id="rId8"/>
    <p:sldId id="260"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1C23"/>
    <a:srgbClr val="FFCD00"/>
    <a:srgbClr val="EA21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91"/>
    <p:restoredTop sz="97368"/>
  </p:normalViewPr>
  <p:slideViewPr>
    <p:cSldViewPr snapToGrid="0" snapToObjects="1">
      <p:cViewPr varScale="1">
        <p:scale>
          <a:sx n="89" d="100"/>
          <a:sy n="89" d="100"/>
        </p:scale>
        <p:origin x="86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sw-KE" b="1"/>
              <a:t>Staff Headcount</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KE"/>
        </a:p>
      </c:txPr>
    </c:title>
    <c:autoTitleDeleted val="0"/>
    <c:plotArea>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K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'2026'!$B$2:$B$4</c:f>
              <c:strCache>
                <c:ptCount val="3"/>
                <c:pt idx="0">
                  <c:v>Jan</c:v>
                </c:pt>
                <c:pt idx="1">
                  <c:v>Feb</c:v>
                </c:pt>
                <c:pt idx="2">
                  <c:v>March</c:v>
                </c:pt>
              </c:strCache>
            </c:strRef>
          </c:cat>
          <c:val>
            <c:numRef>
              <c:f>'2026'!$C$2:$C$4</c:f>
              <c:numCache>
                <c:formatCode>General</c:formatCode>
                <c:ptCount val="3"/>
                <c:pt idx="0">
                  <c:v>669</c:v>
                </c:pt>
                <c:pt idx="1">
                  <c:v>674</c:v>
                </c:pt>
                <c:pt idx="2">
                  <c:v>670</c:v>
                </c:pt>
              </c:numCache>
            </c:numRef>
          </c:val>
          <c:extLst>
            <c:ext xmlns:c16="http://schemas.microsoft.com/office/drawing/2014/chart" uri="{C3380CC4-5D6E-409C-BE32-E72D297353CC}">
              <c16:uniqueId val="{00000000-3BE8-4828-8454-AD029691D58B}"/>
            </c:ext>
          </c:extLst>
        </c:ser>
        <c:dLbls>
          <c:dLblPos val="inEnd"/>
          <c:showLegendKey val="0"/>
          <c:showVal val="1"/>
          <c:showCatName val="0"/>
          <c:showSerName val="0"/>
          <c:showPercent val="0"/>
          <c:showBubbleSize val="0"/>
        </c:dLbls>
        <c:gapWidth val="41"/>
        <c:axId val="924902336"/>
        <c:axId val="924899816"/>
      </c:barChart>
      <c:catAx>
        <c:axId val="92490233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KE"/>
          </a:p>
        </c:txPr>
        <c:crossAx val="924899816"/>
        <c:crosses val="autoZero"/>
        <c:auto val="1"/>
        <c:lblAlgn val="ctr"/>
        <c:lblOffset val="100"/>
        <c:noMultiLvlLbl val="0"/>
      </c:catAx>
      <c:valAx>
        <c:axId val="924899816"/>
        <c:scaling>
          <c:orientation val="minMax"/>
        </c:scaling>
        <c:delete val="1"/>
        <c:axPos val="l"/>
        <c:numFmt formatCode="General" sourceLinked="1"/>
        <c:majorTickMark val="none"/>
        <c:minorTickMark val="none"/>
        <c:tickLblPos val="nextTo"/>
        <c:crossAx val="9249023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K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268F4-CF6B-224A-9CF1-BCC2E345ED7D}" type="datetimeFigureOut">
              <a:rPr lang="en-US" smtClean="0"/>
              <a:t>4/7/2026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40FB8-B74A-614C-95B0-8ACD8E454736}" type="slidenum">
              <a:rPr lang="en-US" smtClean="0"/>
              <a:t>‹#›</a:t>
            </a:fld>
            <a:endParaRPr lang="en-US"/>
          </a:p>
        </p:txBody>
      </p:sp>
    </p:spTree>
    <p:extLst>
      <p:ext uri="{BB962C8B-B14F-4D97-AF65-F5344CB8AC3E}">
        <p14:creationId xmlns:p14="http://schemas.microsoft.com/office/powerpoint/2010/main" val="1737572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4744" y="1937214"/>
            <a:ext cx="5914510" cy="1772628"/>
          </a:xfrm>
          <a:prstGeom prst="rect">
            <a:avLst/>
          </a:prstGeom>
          <a:noFill/>
        </p:spPr>
        <p:txBody>
          <a:bodyPr anchor="b">
            <a:normAutofit/>
          </a:bodyPr>
          <a:lstStyle>
            <a:lvl1pPr algn="ctr">
              <a:defRPr sz="3600" b="1">
                <a:solidFill>
                  <a:schemeClr val="tx1">
                    <a:lumMod val="75000"/>
                    <a:lumOff val="25000"/>
                  </a:schemeClr>
                </a:solidFill>
              </a:defRPr>
            </a:lvl1pPr>
          </a:lstStyle>
          <a:p>
            <a:endParaRPr lang="en-US" dirty="0"/>
          </a:p>
        </p:txBody>
      </p:sp>
      <p:sp>
        <p:nvSpPr>
          <p:cNvPr id="3" name="Subtitle 2"/>
          <p:cNvSpPr>
            <a:spLocks noGrp="1"/>
          </p:cNvSpPr>
          <p:nvPr>
            <p:ph type="subTitle" idx="1"/>
          </p:nvPr>
        </p:nvSpPr>
        <p:spPr>
          <a:xfrm>
            <a:off x="3332500" y="3869817"/>
            <a:ext cx="2478998" cy="271485"/>
          </a:xfrm>
        </p:spPr>
        <p:txBody>
          <a:bodyPr>
            <a:normAutofit/>
          </a:bodyPr>
          <a:lstStyle>
            <a:lvl1pPr marL="0" indent="0" algn="ctr">
              <a:buNone/>
              <a:defRPr sz="1400" b="1">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170116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D8F2-BABB-0BA9-C2F9-395A589E8E59}"/>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en-GB"/>
              <a:t>Click to edit Master title style</a:t>
            </a:r>
            <a:endParaRPr lang="en-KE"/>
          </a:p>
        </p:txBody>
      </p:sp>
      <p:sp>
        <p:nvSpPr>
          <p:cNvPr id="3" name="Text Placeholder 2">
            <a:extLst>
              <a:ext uri="{FF2B5EF4-FFF2-40B4-BE49-F238E27FC236}">
                <a16:creationId xmlns:a16="http://schemas.microsoft.com/office/drawing/2014/main" id="{502F37ED-37C2-8FCB-113D-E7082EB4F708}"/>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TextBox 7">
            <a:extLst>
              <a:ext uri="{FF2B5EF4-FFF2-40B4-BE49-F238E27FC236}">
                <a16:creationId xmlns:a16="http://schemas.microsoft.com/office/drawing/2014/main" id="{7E1E9EEB-079E-1908-9BC8-EE623906106F}"/>
              </a:ext>
            </a:extLst>
          </p:cNvPr>
          <p:cNvSpPr txBox="1"/>
          <p:nvPr userDrawn="1"/>
        </p:nvSpPr>
        <p:spPr>
          <a:xfrm>
            <a:off x="8558128" y="6596390"/>
            <a:ext cx="518091" cy="261610"/>
          </a:xfrm>
          <a:prstGeom prst="rect">
            <a:avLst/>
          </a:prstGeom>
          <a:noFill/>
        </p:spPr>
        <p:txBody>
          <a:bodyPr wrap="none" rtlCol="0">
            <a:spAutoFit/>
          </a:bodyPr>
          <a:lstStyle/>
          <a:p>
            <a:r>
              <a:rPr lang="en-KE" sz="1100" dirty="0">
                <a:solidFill>
                  <a:schemeClr val="bg1"/>
                </a:solidFill>
                <a:latin typeface="Montserrat" panose="02000505000000020004" pitchFamily="2" charset="77"/>
              </a:rPr>
              <a:t>2025</a:t>
            </a:r>
          </a:p>
        </p:txBody>
      </p:sp>
      <p:pic>
        <p:nvPicPr>
          <p:cNvPr id="5" name="Picture 4">
            <a:extLst>
              <a:ext uri="{FF2B5EF4-FFF2-40B4-BE49-F238E27FC236}">
                <a16:creationId xmlns:a16="http://schemas.microsoft.com/office/drawing/2014/main" id="{57CFCFE2-496C-6DF1-C1AF-5541494C5D49}"/>
              </a:ext>
            </a:extLst>
          </p:cNvPr>
          <p:cNvPicPr>
            <a:picLocks noChangeAspect="1"/>
          </p:cNvPicPr>
          <p:nvPr userDrawn="1"/>
        </p:nvPicPr>
        <p:blipFill>
          <a:blip r:embed="rId2"/>
          <a:stretch>
            <a:fillRect/>
          </a:stretch>
        </p:blipFill>
        <p:spPr>
          <a:xfrm>
            <a:off x="0" y="0"/>
            <a:ext cx="1121632" cy="1003852"/>
          </a:xfrm>
          <a:prstGeom prst="rect">
            <a:avLst/>
          </a:prstGeom>
        </p:spPr>
      </p:pic>
    </p:spTree>
    <p:extLst>
      <p:ext uri="{BB962C8B-B14F-4D97-AF65-F5344CB8AC3E}">
        <p14:creationId xmlns:p14="http://schemas.microsoft.com/office/powerpoint/2010/main" val="606620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2" name="Title 1"/>
          <p:cNvSpPr>
            <a:spLocks noGrp="1"/>
          </p:cNvSpPr>
          <p:nvPr>
            <p:ph type="ctrTitle"/>
          </p:nvPr>
        </p:nvSpPr>
        <p:spPr>
          <a:xfrm>
            <a:off x="1614745" y="3697297"/>
            <a:ext cx="5914510" cy="1772628"/>
          </a:xfrm>
          <a:prstGeom prst="rect">
            <a:avLst/>
          </a:prstGeom>
          <a:noFill/>
        </p:spPr>
        <p:txBody>
          <a:bodyPr anchor="b">
            <a:normAutofit/>
          </a:bodyPr>
          <a:lstStyle>
            <a:lvl1pPr algn="ctr">
              <a:defRPr sz="3600" b="1">
                <a:solidFill>
                  <a:schemeClr val="tx1">
                    <a:lumMod val="75000"/>
                    <a:lumOff val="25000"/>
                  </a:schemeClr>
                </a:solidFill>
              </a:defRPr>
            </a:lvl1pPr>
          </a:lstStyle>
          <a:p>
            <a:endParaRPr lang="en-US" dirty="0"/>
          </a:p>
        </p:txBody>
      </p:sp>
      <p:sp>
        <p:nvSpPr>
          <p:cNvPr id="3" name="Subtitle 2"/>
          <p:cNvSpPr>
            <a:spLocks noGrp="1"/>
          </p:cNvSpPr>
          <p:nvPr>
            <p:ph type="subTitle" idx="1"/>
          </p:nvPr>
        </p:nvSpPr>
        <p:spPr>
          <a:xfrm>
            <a:off x="3332500" y="5629900"/>
            <a:ext cx="2478998" cy="271485"/>
          </a:xfrm>
        </p:spPr>
        <p:txBody>
          <a:bodyPr>
            <a:normAutofit/>
          </a:bodyPr>
          <a:lstStyle>
            <a:lvl1pPr marL="0" indent="0" algn="ctr">
              <a:buNone/>
              <a:defRPr sz="1400" b="1">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13" name="Subtitle 2">
            <a:extLst>
              <a:ext uri="{FF2B5EF4-FFF2-40B4-BE49-F238E27FC236}">
                <a16:creationId xmlns:a16="http://schemas.microsoft.com/office/drawing/2014/main" id="{E053C708-44E0-8640-B616-1FC5FC4F51DA}"/>
              </a:ext>
            </a:extLst>
          </p:cNvPr>
          <p:cNvSpPr txBox="1">
            <a:spLocks/>
          </p:cNvSpPr>
          <p:nvPr userDrawn="1"/>
        </p:nvSpPr>
        <p:spPr>
          <a:xfrm>
            <a:off x="3332500" y="6061360"/>
            <a:ext cx="2478998" cy="218973"/>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1800" b="1" kern="1200">
                <a:solidFill>
                  <a:schemeClr val="bg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i="1"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b="0" dirty="0">
                <a:solidFill>
                  <a:schemeClr val="tx1">
                    <a:lumMod val="75000"/>
                    <a:lumOff val="25000"/>
                  </a:schemeClr>
                </a:solidFill>
                <a:latin typeface="Montserrat" panose="02000505000000020004" pitchFamily="2" charset="77"/>
              </a:rPr>
              <a:t>Secretary General</a:t>
            </a:r>
          </a:p>
        </p:txBody>
      </p:sp>
      <p:pic>
        <p:nvPicPr>
          <p:cNvPr id="5" name="Picture 4">
            <a:extLst>
              <a:ext uri="{FF2B5EF4-FFF2-40B4-BE49-F238E27FC236}">
                <a16:creationId xmlns:a16="http://schemas.microsoft.com/office/drawing/2014/main" id="{761CF60F-3A41-D0FD-590C-940DB7DC5A2D}"/>
              </a:ext>
            </a:extLst>
          </p:cNvPr>
          <p:cNvPicPr>
            <a:picLocks noChangeAspect="1"/>
          </p:cNvPicPr>
          <p:nvPr userDrawn="1"/>
        </p:nvPicPr>
        <p:blipFill>
          <a:blip r:embed="rId2"/>
          <a:stretch>
            <a:fillRect/>
          </a:stretch>
        </p:blipFill>
        <p:spPr>
          <a:xfrm>
            <a:off x="0" y="0"/>
            <a:ext cx="1121632" cy="1003852"/>
          </a:xfrm>
          <a:prstGeom prst="rect">
            <a:avLst/>
          </a:prstGeom>
        </p:spPr>
      </p:pic>
    </p:spTree>
    <p:extLst>
      <p:ext uri="{BB962C8B-B14F-4D97-AF65-F5344CB8AC3E}">
        <p14:creationId xmlns:p14="http://schemas.microsoft.com/office/powerpoint/2010/main" val="375667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AFA4173-EEE9-CE4E-BCBE-9ABE898C60D2}"/>
              </a:ext>
            </a:extLst>
          </p:cNvPr>
          <p:cNvSpPr/>
          <p:nvPr userDrawn="1"/>
        </p:nvSpPr>
        <p:spPr>
          <a:xfrm>
            <a:off x="0" y="0"/>
            <a:ext cx="9144000" cy="12516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4CDE85-3978-DA4F-BF90-A723B54E20AC}"/>
              </a:ext>
            </a:extLst>
          </p:cNvPr>
          <p:cNvSpPr/>
          <p:nvPr userDrawn="1"/>
        </p:nvSpPr>
        <p:spPr>
          <a:xfrm>
            <a:off x="-3283" y="-7495"/>
            <a:ext cx="337286" cy="1251679"/>
          </a:xfrm>
          <a:prstGeom prst="rect">
            <a:avLst/>
          </a:prstGeom>
          <a:solidFill>
            <a:srgbClr val="EE1C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a:p>
        </p:txBody>
      </p:sp>
      <p:sp>
        <p:nvSpPr>
          <p:cNvPr id="2" name="Title 1"/>
          <p:cNvSpPr>
            <a:spLocks noGrp="1"/>
          </p:cNvSpPr>
          <p:nvPr>
            <p:ph type="title"/>
          </p:nvPr>
        </p:nvSpPr>
        <p:spPr>
          <a:xfrm>
            <a:off x="565410" y="78965"/>
            <a:ext cx="7949940" cy="1093748"/>
          </a:xfrm>
          <a:prstGeom prst="rect">
            <a:avLst/>
          </a:prstGeom>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a:xfrm>
            <a:off x="565410" y="1518325"/>
            <a:ext cx="7949940" cy="480752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a:extLst>
              <a:ext uri="{FF2B5EF4-FFF2-40B4-BE49-F238E27FC236}">
                <a16:creationId xmlns:a16="http://schemas.microsoft.com/office/drawing/2014/main" id="{A7942C6B-F975-BF4E-B635-3C904FC918D5}"/>
              </a:ext>
            </a:extLst>
          </p:cNvPr>
          <p:cNvSpPr>
            <a:spLocks noGrp="1"/>
          </p:cNvSpPr>
          <p:nvPr>
            <p:ph type="sldNum" sz="quarter" idx="4"/>
          </p:nvPr>
        </p:nvSpPr>
        <p:spPr>
          <a:xfrm>
            <a:off x="7495889" y="6597744"/>
            <a:ext cx="1518731" cy="207310"/>
          </a:xfrm>
          <a:prstGeom prst="rect">
            <a:avLst/>
          </a:prstGeom>
        </p:spPr>
        <p:txBody>
          <a:bodyPr/>
          <a:lstStyle>
            <a:lvl1pPr algn="r">
              <a:defRPr sz="900">
                <a:solidFill>
                  <a:schemeClr val="bg2"/>
                </a:solidFill>
                <a:latin typeface="Montserrat" panose="02000505000000020004" pitchFamily="2" charset="77"/>
              </a:defRPr>
            </a:lvl1pPr>
          </a:lstStyle>
          <a:p>
            <a:r>
              <a:rPr lang="en-US" dirty="0" err="1"/>
              <a:t>www.redcross.or.ke</a:t>
            </a:r>
            <a:endParaRPr lang="en-US" dirty="0"/>
          </a:p>
        </p:txBody>
      </p:sp>
      <p:pic>
        <p:nvPicPr>
          <p:cNvPr id="5" name="Picture 4">
            <a:extLst>
              <a:ext uri="{FF2B5EF4-FFF2-40B4-BE49-F238E27FC236}">
                <a16:creationId xmlns:a16="http://schemas.microsoft.com/office/drawing/2014/main" id="{C268C6B1-7456-ACF3-D568-E15C190DBDE0}"/>
              </a:ext>
            </a:extLst>
          </p:cNvPr>
          <p:cNvPicPr>
            <a:picLocks noChangeAspect="1"/>
          </p:cNvPicPr>
          <p:nvPr userDrawn="1"/>
        </p:nvPicPr>
        <p:blipFill>
          <a:blip r:embed="rId2"/>
          <a:stretch>
            <a:fillRect/>
          </a:stretch>
        </p:blipFill>
        <p:spPr>
          <a:xfrm>
            <a:off x="19678" y="6420080"/>
            <a:ext cx="628650" cy="562637"/>
          </a:xfrm>
          <a:prstGeom prst="rect">
            <a:avLst/>
          </a:prstGeom>
        </p:spPr>
      </p:pic>
    </p:spTree>
    <p:extLst>
      <p:ext uri="{BB962C8B-B14F-4D97-AF65-F5344CB8AC3E}">
        <p14:creationId xmlns:p14="http://schemas.microsoft.com/office/powerpoint/2010/main" val="459067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B86AF6-3E7A-A845-91A2-16FF3E403410}"/>
              </a:ext>
            </a:extLst>
          </p:cNvPr>
          <p:cNvSpPr/>
          <p:nvPr userDrawn="1"/>
        </p:nvSpPr>
        <p:spPr>
          <a:xfrm>
            <a:off x="0" y="194872"/>
            <a:ext cx="1460487" cy="43471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233400" y="243590"/>
            <a:ext cx="1227087" cy="337280"/>
          </a:xfrm>
          <a:prstGeom prst="rect">
            <a:avLst/>
          </a:prstGeom>
          <a:noFill/>
        </p:spPr>
        <p:txBody>
          <a:bodyPr anchor="b">
            <a:normAutofit/>
          </a:bodyPr>
          <a:lstStyle>
            <a:lvl1pPr>
              <a:defRPr sz="1800">
                <a:solidFill>
                  <a:schemeClr val="bg1"/>
                </a:solidFill>
              </a:defRPr>
            </a:lvl1pPr>
          </a:lstStyle>
          <a:p>
            <a:r>
              <a:rPr lang="en-US" dirty="0"/>
              <a:t>Photos</a:t>
            </a:r>
          </a:p>
        </p:txBody>
      </p:sp>
      <p:sp>
        <p:nvSpPr>
          <p:cNvPr id="3" name="Slide Number Placeholder 5">
            <a:extLst>
              <a:ext uri="{FF2B5EF4-FFF2-40B4-BE49-F238E27FC236}">
                <a16:creationId xmlns:a16="http://schemas.microsoft.com/office/drawing/2014/main" id="{21D152D7-5F3C-9FED-BCD5-6178530B4E3B}"/>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5" name="Picture 4">
            <a:extLst>
              <a:ext uri="{FF2B5EF4-FFF2-40B4-BE49-F238E27FC236}">
                <a16:creationId xmlns:a16="http://schemas.microsoft.com/office/drawing/2014/main" id="{4BD2A112-8918-1A70-FAF1-144C30993B0F}"/>
              </a:ext>
            </a:extLst>
          </p:cNvPr>
          <p:cNvPicPr>
            <a:picLocks noChangeAspect="1"/>
          </p:cNvPicPr>
          <p:nvPr userDrawn="1"/>
        </p:nvPicPr>
        <p:blipFill>
          <a:blip r:embed="rId2"/>
          <a:stretch>
            <a:fillRect/>
          </a:stretch>
        </p:blipFill>
        <p:spPr>
          <a:xfrm>
            <a:off x="0" y="6439060"/>
            <a:ext cx="586237" cy="524678"/>
          </a:xfrm>
          <a:prstGeom prst="rect">
            <a:avLst/>
          </a:prstGeom>
        </p:spPr>
      </p:pic>
    </p:spTree>
    <p:extLst>
      <p:ext uri="{BB962C8B-B14F-4D97-AF65-F5344CB8AC3E}">
        <p14:creationId xmlns:p14="http://schemas.microsoft.com/office/powerpoint/2010/main" val="20409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446551"/>
            <a:ext cx="3886200" cy="47304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hasCustomPrompt="1"/>
          </p:nvPr>
        </p:nvSpPr>
        <p:spPr>
          <a:xfrm>
            <a:off x="4629150" y="1446551"/>
            <a:ext cx="3886200" cy="473041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06D3DDCC-0A69-D44C-93D7-FB69CA408753}"/>
              </a:ext>
            </a:extLst>
          </p:cNvPr>
          <p:cNvSpPr/>
          <p:nvPr userDrawn="1"/>
        </p:nvSpPr>
        <p:spPr>
          <a:xfrm>
            <a:off x="0" y="0"/>
            <a:ext cx="9144000" cy="12516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EC2B1BE1-FCC5-0548-A786-51D2C5CCAF32}"/>
              </a:ext>
            </a:extLst>
          </p:cNvPr>
          <p:cNvSpPr>
            <a:spLocks noGrp="1"/>
          </p:cNvSpPr>
          <p:nvPr>
            <p:ph type="title"/>
          </p:nvPr>
        </p:nvSpPr>
        <p:spPr>
          <a:xfrm>
            <a:off x="565410" y="78965"/>
            <a:ext cx="7949940" cy="1093748"/>
          </a:xfrm>
          <a:prstGeom prst="rect">
            <a:avLst/>
          </a:prstGeom>
        </p:spPr>
        <p:txBody>
          <a:bodyPr>
            <a:normAutofit/>
          </a:bodyPr>
          <a:lstStyle>
            <a:lvl1pPr>
              <a:defRPr sz="3600"/>
            </a:lvl1pPr>
          </a:lstStyle>
          <a:p>
            <a:r>
              <a:rPr lang="en-US" dirty="0"/>
              <a:t>Click to edit Master title style</a:t>
            </a:r>
          </a:p>
        </p:txBody>
      </p:sp>
      <p:sp>
        <p:nvSpPr>
          <p:cNvPr id="2" name="Slide Number Placeholder 5">
            <a:extLst>
              <a:ext uri="{FF2B5EF4-FFF2-40B4-BE49-F238E27FC236}">
                <a16:creationId xmlns:a16="http://schemas.microsoft.com/office/drawing/2014/main" id="{3CF8BC82-A537-A68A-D7DC-1D3FEC226176}"/>
              </a:ext>
            </a:extLst>
          </p:cNvPr>
          <p:cNvSpPr>
            <a:spLocks noGrp="1"/>
          </p:cNvSpPr>
          <p:nvPr>
            <p:ph type="sldNum" sz="quarter" idx="4"/>
          </p:nvPr>
        </p:nvSpPr>
        <p:spPr>
          <a:xfrm>
            <a:off x="7495889" y="6597744"/>
            <a:ext cx="1518731" cy="207310"/>
          </a:xfrm>
          <a:prstGeom prst="rect">
            <a:avLst/>
          </a:prstGeom>
        </p:spPr>
        <p:txBody>
          <a:bodyPr/>
          <a:lstStyle>
            <a:lvl1pPr algn="r">
              <a:defRPr sz="900">
                <a:solidFill>
                  <a:schemeClr val="bg2"/>
                </a:solidFill>
                <a:latin typeface="Montserrat" panose="02000505000000020004" pitchFamily="2" charset="77"/>
              </a:defRPr>
            </a:lvl1pPr>
          </a:lstStyle>
          <a:p>
            <a:r>
              <a:rPr lang="en-US" dirty="0" err="1"/>
              <a:t>www.redcross.or.ke</a:t>
            </a:r>
            <a:endParaRPr lang="en-US" dirty="0"/>
          </a:p>
        </p:txBody>
      </p:sp>
      <p:sp>
        <p:nvSpPr>
          <p:cNvPr id="6" name="Rectangle 5">
            <a:extLst>
              <a:ext uri="{FF2B5EF4-FFF2-40B4-BE49-F238E27FC236}">
                <a16:creationId xmlns:a16="http://schemas.microsoft.com/office/drawing/2014/main" id="{4ADEF81A-91B1-C196-521D-9D39B5A9F8C9}"/>
              </a:ext>
            </a:extLst>
          </p:cNvPr>
          <p:cNvSpPr/>
          <p:nvPr userDrawn="1"/>
        </p:nvSpPr>
        <p:spPr>
          <a:xfrm>
            <a:off x="-3283" y="-7495"/>
            <a:ext cx="337286" cy="1251679"/>
          </a:xfrm>
          <a:prstGeom prst="rect">
            <a:avLst/>
          </a:prstGeom>
          <a:solidFill>
            <a:srgbClr val="EE1C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a:p>
        </p:txBody>
      </p:sp>
      <p:pic>
        <p:nvPicPr>
          <p:cNvPr id="7" name="Picture 6">
            <a:extLst>
              <a:ext uri="{FF2B5EF4-FFF2-40B4-BE49-F238E27FC236}">
                <a16:creationId xmlns:a16="http://schemas.microsoft.com/office/drawing/2014/main" id="{B9EFFD79-BF79-99EE-896B-B1E5283D3B6F}"/>
              </a:ext>
            </a:extLst>
          </p:cNvPr>
          <p:cNvPicPr>
            <a:picLocks noChangeAspect="1"/>
          </p:cNvPicPr>
          <p:nvPr userDrawn="1"/>
        </p:nvPicPr>
        <p:blipFill>
          <a:blip r:embed="rId2"/>
          <a:stretch>
            <a:fillRect/>
          </a:stretch>
        </p:blipFill>
        <p:spPr>
          <a:xfrm>
            <a:off x="0" y="6439060"/>
            <a:ext cx="586237" cy="524678"/>
          </a:xfrm>
          <a:prstGeom prst="rect">
            <a:avLst/>
          </a:prstGeom>
        </p:spPr>
      </p:pic>
    </p:spTree>
    <p:extLst>
      <p:ext uri="{BB962C8B-B14F-4D97-AF65-F5344CB8AC3E}">
        <p14:creationId xmlns:p14="http://schemas.microsoft.com/office/powerpoint/2010/main" val="2130639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5114D9D8-4B87-ABDF-C776-5E68166CB8AC}"/>
              </a:ext>
            </a:extLst>
          </p:cNvPr>
          <p:cNvSpPr>
            <a:spLocks noGrp="1"/>
          </p:cNvSpPr>
          <p:nvPr>
            <p:ph sz="half" idx="2"/>
          </p:nvPr>
        </p:nvSpPr>
        <p:spPr>
          <a:xfrm>
            <a:off x="4752690" y="942810"/>
            <a:ext cx="3886200" cy="4730412"/>
          </a:xfrm>
        </p:spPr>
        <p:txBody>
          <a:bodyPr>
            <a:normAutofit/>
          </a:bodyPr>
          <a:lstStyle>
            <a:lvl1pPr>
              <a:defRPr sz="2400" b="0"/>
            </a:lvl1pPr>
          </a:lstStyle>
          <a:p>
            <a:pPr lvl="0"/>
            <a:endParaRPr lang="en-US" dirty="0"/>
          </a:p>
        </p:txBody>
      </p:sp>
      <p:sp>
        <p:nvSpPr>
          <p:cNvPr id="4" name="Slide Number Placeholder 5">
            <a:extLst>
              <a:ext uri="{FF2B5EF4-FFF2-40B4-BE49-F238E27FC236}">
                <a16:creationId xmlns:a16="http://schemas.microsoft.com/office/drawing/2014/main" id="{130ECB88-8D5D-88F0-E50B-3D9A4BA3F62C}"/>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2" name="Picture 1">
            <a:extLst>
              <a:ext uri="{FF2B5EF4-FFF2-40B4-BE49-F238E27FC236}">
                <a16:creationId xmlns:a16="http://schemas.microsoft.com/office/drawing/2014/main" id="{69BFE58A-78D4-50B2-F13B-57DF3216CA87}"/>
              </a:ext>
            </a:extLst>
          </p:cNvPr>
          <p:cNvPicPr>
            <a:picLocks noChangeAspect="1"/>
          </p:cNvPicPr>
          <p:nvPr userDrawn="1"/>
        </p:nvPicPr>
        <p:blipFill>
          <a:blip r:embed="rId2"/>
          <a:stretch>
            <a:fillRect/>
          </a:stretch>
        </p:blipFill>
        <p:spPr>
          <a:xfrm>
            <a:off x="0" y="6439060"/>
            <a:ext cx="586237" cy="524678"/>
          </a:xfrm>
          <a:prstGeom prst="rect">
            <a:avLst/>
          </a:prstGeom>
        </p:spPr>
      </p:pic>
    </p:spTree>
    <p:extLst>
      <p:ext uri="{BB962C8B-B14F-4D97-AF65-F5344CB8AC3E}">
        <p14:creationId xmlns:p14="http://schemas.microsoft.com/office/powerpoint/2010/main" val="3558784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3A4978-AE87-48E9-88EB-DAE8E998AB71}"/>
              </a:ext>
            </a:extLst>
          </p:cNvPr>
          <p:cNvSpPr>
            <a:spLocks noGrp="1"/>
          </p:cNvSpPr>
          <p:nvPr>
            <p:ph type="dt" sz="half" idx="10"/>
          </p:nvPr>
        </p:nvSpPr>
        <p:spPr/>
        <p:txBody>
          <a:bodyPr/>
          <a:lstStyle/>
          <a:p>
            <a:fld id="{473D8481-D4A6-41CA-A903-EE0EFB19B35B}" type="datetimeFigureOut">
              <a:rPr lang="en-US" smtClean="0"/>
              <a:t>4/7/2026</a:t>
            </a:fld>
            <a:endParaRPr lang="en-US"/>
          </a:p>
        </p:txBody>
      </p:sp>
      <p:sp>
        <p:nvSpPr>
          <p:cNvPr id="3" name="Footer Placeholder 2">
            <a:extLst>
              <a:ext uri="{FF2B5EF4-FFF2-40B4-BE49-F238E27FC236}">
                <a16:creationId xmlns:a16="http://schemas.microsoft.com/office/drawing/2014/main" id="{8DF5D6F5-65D0-40DC-9FEB-50EB1FBDAA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BFC187-6653-4A6B-99D8-1FC1594F069A}"/>
              </a:ext>
            </a:extLst>
          </p:cNvPr>
          <p:cNvSpPr>
            <a:spLocks noGrp="1"/>
          </p:cNvSpPr>
          <p:nvPr>
            <p:ph type="sldNum" sz="quarter" idx="12"/>
          </p:nvPr>
        </p:nvSpPr>
        <p:spPr/>
        <p:txBody>
          <a:bodyPr/>
          <a:lstStyle/>
          <a:p>
            <a:fld id="{0A280D10-1B3F-4F54-89FC-5B1C0570C7DB}" type="slidenum">
              <a:rPr lang="en-US" smtClean="0"/>
              <a:t>‹#›</a:t>
            </a:fld>
            <a:endParaRPr lang="en-US"/>
          </a:p>
        </p:txBody>
      </p:sp>
    </p:spTree>
    <p:extLst>
      <p:ext uri="{BB962C8B-B14F-4D97-AF65-F5344CB8AC3E}">
        <p14:creationId xmlns:p14="http://schemas.microsoft.com/office/powerpoint/2010/main" val="77333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063F9-20E9-595C-45CC-00EC5737196F}"/>
              </a:ext>
            </a:extLst>
          </p:cNvPr>
          <p:cNvSpPr>
            <a:spLocks noGrp="1"/>
          </p:cNvSpPr>
          <p:nvPr>
            <p:ph type="ctrTitle"/>
          </p:nvPr>
        </p:nvSpPr>
        <p:spPr>
          <a:xfrm>
            <a:off x="1143000" y="1122363"/>
            <a:ext cx="6858000" cy="2387600"/>
          </a:xfrm>
          <a:prstGeom prst="rect">
            <a:avLst/>
          </a:prstGeom>
        </p:spPr>
        <p:txBody>
          <a:bodyPr anchor="b"/>
          <a:lstStyle>
            <a:lvl1pPr algn="ctr">
              <a:defRPr sz="6000" b="1"/>
            </a:lvl1pPr>
          </a:lstStyle>
          <a:p>
            <a:r>
              <a:rPr lang="en-GB" dirty="0"/>
              <a:t>Click to edit Master title style</a:t>
            </a:r>
            <a:endParaRPr lang="en-KE" dirty="0"/>
          </a:p>
        </p:txBody>
      </p:sp>
      <p:sp>
        <p:nvSpPr>
          <p:cNvPr id="3" name="Subtitle 2">
            <a:extLst>
              <a:ext uri="{FF2B5EF4-FFF2-40B4-BE49-F238E27FC236}">
                <a16:creationId xmlns:a16="http://schemas.microsoft.com/office/drawing/2014/main" id="{480AA7A8-AF8B-9139-BE9D-AE5D1F5F9F2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KE"/>
          </a:p>
        </p:txBody>
      </p:sp>
      <p:sp>
        <p:nvSpPr>
          <p:cNvPr id="8" name="Slide Number Placeholder 5">
            <a:extLst>
              <a:ext uri="{FF2B5EF4-FFF2-40B4-BE49-F238E27FC236}">
                <a16:creationId xmlns:a16="http://schemas.microsoft.com/office/drawing/2014/main" id="{82B36BE5-C632-B06E-8E0C-6EFAD55F15A4}"/>
              </a:ext>
            </a:extLst>
          </p:cNvPr>
          <p:cNvSpPr>
            <a:spLocks noGrp="1"/>
          </p:cNvSpPr>
          <p:nvPr>
            <p:ph type="sldNum" sz="quarter" idx="4"/>
          </p:nvPr>
        </p:nvSpPr>
        <p:spPr>
          <a:xfrm>
            <a:off x="3812634" y="6416401"/>
            <a:ext cx="1518731" cy="207310"/>
          </a:xfrm>
          <a:prstGeom prst="rect">
            <a:avLst/>
          </a:prstGeom>
        </p:spPr>
        <p:txBody>
          <a:bodyPr/>
          <a:lstStyle>
            <a:lvl1pPr algn="r">
              <a:defRPr sz="800">
                <a:solidFill>
                  <a:schemeClr val="tx1"/>
                </a:solidFill>
                <a:latin typeface="Montserrat" panose="02000505000000020004" pitchFamily="2" charset="77"/>
              </a:defRPr>
            </a:lvl1pPr>
          </a:lstStyle>
          <a:p>
            <a:r>
              <a:rPr lang="en-US"/>
              <a:t>www.redcross.or.ke</a:t>
            </a:r>
            <a:endParaRPr lang="en-US" dirty="0"/>
          </a:p>
        </p:txBody>
      </p:sp>
    </p:spTree>
    <p:extLst>
      <p:ext uri="{BB962C8B-B14F-4D97-AF65-F5344CB8AC3E}">
        <p14:creationId xmlns:p14="http://schemas.microsoft.com/office/powerpoint/2010/main" val="3154660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4405001-EBC9-08AA-E9BB-0E51271F5028}"/>
              </a:ext>
            </a:extLst>
          </p:cNvPr>
          <p:cNvSpPr/>
          <p:nvPr userDrawn="1"/>
        </p:nvSpPr>
        <p:spPr>
          <a:xfrm>
            <a:off x="0" y="6543162"/>
            <a:ext cx="9144000" cy="314838"/>
          </a:xfrm>
          <a:prstGeom prst="rect">
            <a:avLst/>
          </a:prstGeom>
          <a:solidFill>
            <a:srgbClr val="EE1C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KE" dirty="0"/>
              <a:t> </a:t>
            </a:r>
          </a:p>
        </p:txBody>
      </p:sp>
      <p:sp>
        <p:nvSpPr>
          <p:cNvPr id="2" name="Title 1">
            <a:extLst>
              <a:ext uri="{FF2B5EF4-FFF2-40B4-BE49-F238E27FC236}">
                <a16:creationId xmlns:a16="http://schemas.microsoft.com/office/drawing/2014/main" id="{A8D5C615-3383-091C-FC3A-9C2D3BD025F6}"/>
              </a:ext>
            </a:extLst>
          </p:cNvPr>
          <p:cNvSpPr>
            <a:spLocks noGrp="1"/>
          </p:cNvSpPr>
          <p:nvPr>
            <p:ph type="title"/>
          </p:nvPr>
        </p:nvSpPr>
        <p:spPr>
          <a:xfrm>
            <a:off x="628650" y="874643"/>
            <a:ext cx="7886700" cy="816045"/>
          </a:xfrm>
          <a:prstGeom prst="rect">
            <a:avLst/>
          </a:prstGeom>
        </p:spPr>
        <p:txBody>
          <a:bodyPr>
            <a:normAutofit/>
          </a:bodyPr>
          <a:lstStyle>
            <a:lvl1pPr>
              <a:defRPr sz="4000" b="1"/>
            </a:lvl1pPr>
          </a:lstStyle>
          <a:p>
            <a:r>
              <a:rPr lang="en-GB" dirty="0"/>
              <a:t>Click to edit Master title style</a:t>
            </a:r>
            <a:endParaRPr lang="en-KE" dirty="0"/>
          </a:p>
        </p:txBody>
      </p:sp>
      <p:sp>
        <p:nvSpPr>
          <p:cNvPr id="3" name="Content Placeholder 2">
            <a:extLst>
              <a:ext uri="{FF2B5EF4-FFF2-40B4-BE49-F238E27FC236}">
                <a16:creationId xmlns:a16="http://schemas.microsoft.com/office/drawing/2014/main" id="{95C1C175-810B-38D9-1116-FCCB8334B650}"/>
              </a:ext>
            </a:extLst>
          </p:cNvPr>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KE" dirty="0"/>
          </a:p>
        </p:txBody>
      </p:sp>
      <p:sp>
        <p:nvSpPr>
          <p:cNvPr id="7" name="Slide Number Placeholder 5">
            <a:extLst>
              <a:ext uri="{FF2B5EF4-FFF2-40B4-BE49-F238E27FC236}">
                <a16:creationId xmlns:a16="http://schemas.microsoft.com/office/drawing/2014/main" id="{D7682605-1B3D-5EA8-DD4E-ED161771D302}"/>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8" name="Picture 7">
            <a:extLst>
              <a:ext uri="{FF2B5EF4-FFF2-40B4-BE49-F238E27FC236}">
                <a16:creationId xmlns:a16="http://schemas.microsoft.com/office/drawing/2014/main" id="{B2AEFE26-5F2B-EB6A-612C-15C1B80A11EA}"/>
              </a:ext>
            </a:extLst>
          </p:cNvPr>
          <p:cNvPicPr>
            <a:picLocks noChangeAspect="1"/>
          </p:cNvPicPr>
          <p:nvPr userDrawn="1"/>
        </p:nvPicPr>
        <p:blipFill>
          <a:blip r:embed="rId2"/>
          <a:stretch>
            <a:fillRect/>
          </a:stretch>
        </p:blipFill>
        <p:spPr>
          <a:xfrm>
            <a:off x="195408" y="6603166"/>
            <a:ext cx="448633" cy="217983"/>
          </a:xfrm>
          <a:prstGeom prst="rect">
            <a:avLst/>
          </a:prstGeom>
        </p:spPr>
      </p:pic>
    </p:spTree>
    <p:extLst>
      <p:ext uri="{BB962C8B-B14F-4D97-AF65-F5344CB8AC3E}">
        <p14:creationId xmlns:p14="http://schemas.microsoft.com/office/powerpoint/2010/main" val="3655211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D8F2-BABB-0BA9-C2F9-395A589E8E59}"/>
              </a:ext>
            </a:extLst>
          </p:cNvPr>
          <p:cNvSpPr>
            <a:spLocks noGrp="1"/>
          </p:cNvSpPr>
          <p:nvPr>
            <p:ph type="title"/>
          </p:nvPr>
        </p:nvSpPr>
        <p:spPr>
          <a:xfrm>
            <a:off x="623888" y="1709738"/>
            <a:ext cx="7886700" cy="2852737"/>
          </a:xfrm>
          <a:prstGeom prst="rect">
            <a:avLst/>
          </a:prstGeom>
        </p:spPr>
        <p:txBody>
          <a:bodyPr anchor="b"/>
          <a:lstStyle>
            <a:lvl1pPr>
              <a:defRPr sz="6000" b="1"/>
            </a:lvl1pPr>
          </a:lstStyle>
          <a:p>
            <a:r>
              <a:rPr lang="en-GB" dirty="0"/>
              <a:t>Click to edit Master title style</a:t>
            </a:r>
            <a:endParaRPr lang="en-KE" dirty="0"/>
          </a:p>
        </p:txBody>
      </p:sp>
      <p:sp>
        <p:nvSpPr>
          <p:cNvPr id="3" name="Text Placeholder 2">
            <a:extLst>
              <a:ext uri="{FF2B5EF4-FFF2-40B4-BE49-F238E27FC236}">
                <a16:creationId xmlns:a16="http://schemas.microsoft.com/office/drawing/2014/main" id="{502F37ED-37C2-8FCB-113D-E7082EB4F708}"/>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Rectangle 6">
            <a:extLst>
              <a:ext uri="{FF2B5EF4-FFF2-40B4-BE49-F238E27FC236}">
                <a16:creationId xmlns:a16="http://schemas.microsoft.com/office/drawing/2014/main" id="{40A8583E-B3CC-5E71-899A-2163859A19F1}"/>
              </a:ext>
            </a:extLst>
          </p:cNvPr>
          <p:cNvSpPr/>
          <p:nvPr userDrawn="1"/>
        </p:nvSpPr>
        <p:spPr>
          <a:xfrm>
            <a:off x="0" y="6543162"/>
            <a:ext cx="9144000" cy="314838"/>
          </a:xfrm>
          <a:prstGeom prst="rect">
            <a:avLst/>
          </a:prstGeom>
          <a:solidFill>
            <a:srgbClr val="EE1C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KE" dirty="0"/>
              <a:t> </a:t>
            </a:r>
          </a:p>
        </p:txBody>
      </p:sp>
      <p:sp>
        <p:nvSpPr>
          <p:cNvPr id="8" name="Slide Number Placeholder 5">
            <a:extLst>
              <a:ext uri="{FF2B5EF4-FFF2-40B4-BE49-F238E27FC236}">
                <a16:creationId xmlns:a16="http://schemas.microsoft.com/office/drawing/2014/main" id="{E5C7AEBC-B11D-0014-EA8F-0241C75604B8}"/>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9" name="Picture 8">
            <a:extLst>
              <a:ext uri="{FF2B5EF4-FFF2-40B4-BE49-F238E27FC236}">
                <a16:creationId xmlns:a16="http://schemas.microsoft.com/office/drawing/2014/main" id="{AA891FF6-8E8D-7304-44F2-8F696581C2FF}"/>
              </a:ext>
            </a:extLst>
          </p:cNvPr>
          <p:cNvPicPr>
            <a:picLocks noChangeAspect="1"/>
          </p:cNvPicPr>
          <p:nvPr userDrawn="1"/>
        </p:nvPicPr>
        <p:blipFill>
          <a:blip r:embed="rId2"/>
          <a:stretch>
            <a:fillRect/>
          </a:stretch>
        </p:blipFill>
        <p:spPr>
          <a:xfrm>
            <a:off x="195408" y="6603166"/>
            <a:ext cx="448633" cy="217983"/>
          </a:xfrm>
          <a:prstGeom prst="rect">
            <a:avLst/>
          </a:prstGeom>
        </p:spPr>
      </p:pic>
    </p:spTree>
    <p:extLst>
      <p:ext uri="{BB962C8B-B14F-4D97-AF65-F5344CB8AC3E}">
        <p14:creationId xmlns:p14="http://schemas.microsoft.com/office/powerpoint/2010/main" val="377367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A1384-09F6-2AD7-6A16-D68FCD60AF21}"/>
              </a:ext>
            </a:extLst>
          </p:cNvPr>
          <p:cNvSpPr>
            <a:spLocks noGrp="1"/>
          </p:cNvSpPr>
          <p:nvPr>
            <p:ph type="title"/>
          </p:nvPr>
        </p:nvSpPr>
        <p:spPr>
          <a:xfrm>
            <a:off x="628650" y="1040985"/>
            <a:ext cx="7886700" cy="1325563"/>
          </a:xfrm>
          <a:prstGeom prst="rect">
            <a:avLst/>
          </a:prstGeom>
        </p:spPr>
        <p:txBody>
          <a:bodyPr>
            <a:normAutofit/>
          </a:bodyPr>
          <a:lstStyle>
            <a:lvl1pPr>
              <a:defRPr sz="4000" b="1"/>
            </a:lvl1pPr>
          </a:lstStyle>
          <a:p>
            <a:r>
              <a:rPr lang="en-GB" dirty="0"/>
              <a:t>Click to edit Master title style</a:t>
            </a:r>
            <a:endParaRPr lang="en-KE" dirty="0"/>
          </a:p>
        </p:txBody>
      </p:sp>
      <p:sp>
        <p:nvSpPr>
          <p:cNvPr id="6" name="Rectangle 5">
            <a:extLst>
              <a:ext uri="{FF2B5EF4-FFF2-40B4-BE49-F238E27FC236}">
                <a16:creationId xmlns:a16="http://schemas.microsoft.com/office/drawing/2014/main" id="{2E0553AE-DFE3-0D3D-1423-BCAAA3ED28A0}"/>
              </a:ext>
            </a:extLst>
          </p:cNvPr>
          <p:cNvSpPr/>
          <p:nvPr userDrawn="1"/>
        </p:nvSpPr>
        <p:spPr>
          <a:xfrm>
            <a:off x="0" y="6543162"/>
            <a:ext cx="9144000" cy="314838"/>
          </a:xfrm>
          <a:prstGeom prst="rect">
            <a:avLst/>
          </a:prstGeom>
          <a:solidFill>
            <a:srgbClr val="EE1C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KE" dirty="0"/>
              <a:t> </a:t>
            </a:r>
          </a:p>
        </p:txBody>
      </p:sp>
      <p:sp>
        <p:nvSpPr>
          <p:cNvPr id="7" name="Slide Number Placeholder 5">
            <a:extLst>
              <a:ext uri="{FF2B5EF4-FFF2-40B4-BE49-F238E27FC236}">
                <a16:creationId xmlns:a16="http://schemas.microsoft.com/office/drawing/2014/main" id="{2C23E9A6-86BE-3168-4843-F8BEC1BC6C5A}"/>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8" name="Picture 7">
            <a:extLst>
              <a:ext uri="{FF2B5EF4-FFF2-40B4-BE49-F238E27FC236}">
                <a16:creationId xmlns:a16="http://schemas.microsoft.com/office/drawing/2014/main" id="{B4984854-A84A-E554-0FF8-E9A98A0BF07A}"/>
              </a:ext>
            </a:extLst>
          </p:cNvPr>
          <p:cNvPicPr>
            <a:picLocks noChangeAspect="1"/>
          </p:cNvPicPr>
          <p:nvPr userDrawn="1"/>
        </p:nvPicPr>
        <p:blipFill>
          <a:blip r:embed="rId2"/>
          <a:stretch>
            <a:fillRect/>
          </a:stretch>
        </p:blipFill>
        <p:spPr>
          <a:xfrm>
            <a:off x="195408" y="6603166"/>
            <a:ext cx="448633" cy="217983"/>
          </a:xfrm>
          <a:prstGeom prst="rect">
            <a:avLst/>
          </a:prstGeom>
        </p:spPr>
      </p:pic>
    </p:spTree>
    <p:extLst>
      <p:ext uri="{BB962C8B-B14F-4D97-AF65-F5344CB8AC3E}">
        <p14:creationId xmlns:p14="http://schemas.microsoft.com/office/powerpoint/2010/main" val="852262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2A42A9-3EC5-B86B-C78E-D391ACDEB965}"/>
              </a:ext>
            </a:extLst>
          </p:cNvPr>
          <p:cNvSpPr/>
          <p:nvPr userDrawn="1"/>
        </p:nvSpPr>
        <p:spPr>
          <a:xfrm>
            <a:off x="0" y="6543162"/>
            <a:ext cx="9144000" cy="314838"/>
          </a:xfrm>
          <a:prstGeom prst="rect">
            <a:avLst/>
          </a:prstGeom>
          <a:solidFill>
            <a:srgbClr val="EE1C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KE" dirty="0"/>
              <a:t> </a:t>
            </a:r>
          </a:p>
        </p:txBody>
      </p:sp>
      <p:sp>
        <p:nvSpPr>
          <p:cNvPr id="6" name="Slide Number Placeholder 5">
            <a:extLst>
              <a:ext uri="{FF2B5EF4-FFF2-40B4-BE49-F238E27FC236}">
                <a16:creationId xmlns:a16="http://schemas.microsoft.com/office/drawing/2014/main" id="{4ED3DFF6-4BB9-514F-1717-8DCE60860D2D}"/>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7" name="Picture 6">
            <a:extLst>
              <a:ext uri="{FF2B5EF4-FFF2-40B4-BE49-F238E27FC236}">
                <a16:creationId xmlns:a16="http://schemas.microsoft.com/office/drawing/2014/main" id="{BCDE2732-EFCE-A3A4-36AE-9D6C52371694}"/>
              </a:ext>
            </a:extLst>
          </p:cNvPr>
          <p:cNvPicPr>
            <a:picLocks noChangeAspect="1"/>
          </p:cNvPicPr>
          <p:nvPr userDrawn="1"/>
        </p:nvPicPr>
        <p:blipFill>
          <a:blip r:embed="rId2"/>
          <a:stretch>
            <a:fillRect/>
          </a:stretch>
        </p:blipFill>
        <p:spPr>
          <a:xfrm>
            <a:off x="195408" y="6603166"/>
            <a:ext cx="448633" cy="217983"/>
          </a:xfrm>
          <a:prstGeom prst="rect">
            <a:avLst/>
          </a:prstGeom>
        </p:spPr>
      </p:pic>
    </p:spTree>
    <p:extLst>
      <p:ext uri="{BB962C8B-B14F-4D97-AF65-F5344CB8AC3E}">
        <p14:creationId xmlns:p14="http://schemas.microsoft.com/office/powerpoint/2010/main" val="242987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1E0BA-C65D-1419-2BE0-77D07DB10F5B}"/>
              </a:ext>
            </a:extLst>
          </p:cNvPr>
          <p:cNvSpPr>
            <a:spLocks noGrp="1"/>
          </p:cNvSpPr>
          <p:nvPr>
            <p:ph type="title"/>
          </p:nvPr>
        </p:nvSpPr>
        <p:spPr>
          <a:xfrm>
            <a:off x="630238" y="987424"/>
            <a:ext cx="2949575" cy="1069975"/>
          </a:xfrm>
          <a:prstGeom prst="rect">
            <a:avLst/>
          </a:prstGeom>
        </p:spPr>
        <p:txBody>
          <a:bodyPr anchor="b">
            <a:normAutofit/>
          </a:bodyPr>
          <a:lstStyle>
            <a:lvl1pPr>
              <a:defRPr sz="2800" b="1"/>
            </a:lvl1pPr>
          </a:lstStyle>
          <a:p>
            <a:r>
              <a:rPr lang="en-GB" dirty="0"/>
              <a:t>Click to edit Master title style</a:t>
            </a:r>
            <a:endParaRPr lang="en-KE" dirty="0"/>
          </a:p>
        </p:txBody>
      </p:sp>
      <p:sp>
        <p:nvSpPr>
          <p:cNvPr id="3" name="Content Placeholder 2">
            <a:extLst>
              <a:ext uri="{FF2B5EF4-FFF2-40B4-BE49-F238E27FC236}">
                <a16:creationId xmlns:a16="http://schemas.microsoft.com/office/drawing/2014/main" id="{5FE6831E-00AC-2DC8-6317-CA5688652FE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KE" dirty="0"/>
          </a:p>
        </p:txBody>
      </p:sp>
      <p:sp>
        <p:nvSpPr>
          <p:cNvPr id="4" name="Text Placeholder 3">
            <a:extLst>
              <a:ext uri="{FF2B5EF4-FFF2-40B4-BE49-F238E27FC236}">
                <a16:creationId xmlns:a16="http://schemas.microsoft.com/office/drawing/2014/main" id="{27FE05AE-A98D-B59E-4350-D4943ACDB24F}"/>
              </a:ext>
            </a:extLst>
          </p:cNvPr>
          <p:cNvSpPr>
            <a:spLocks noGrp="1"/>
          </p:cNvSpPr>
          <p:nvPr>
            <p:ph type="body" sz="half" idx="2"/>
          </p:nvPr>
        </p:nvSpPr>
        <p:spPr>
          <a:xfrm>
            <a:off x="630238" y="2057400"/>
            <a:ext cx="2949575" cy="381158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8" name="Rectangle 7">
            <a:extLst>
              <a:ext uri="{FF2B5EF4-FFF2-40B4-BE49-F238E27FC236}">
                <a16:creationId xmlns:a16="http://schemas.microsoft.com/office/drawing/2014/main" id="{76FA8B76-C2DA-3183-9819-9800B8A7874D}"/>
              </a:ext>
            </a:extLst>
          </p:cNvPr>
          <p:cNvSpPr/>
          <p:nvPr userDrawn="1"/>
        </p:nvSpPr>
        <p:spPr>
          <a:xfrm>
            <a:off x="0" y="6543162"/>
            <a:ext cx="9144000" cy="314838"/>
          </a:xfrm>
          <a:prstGeom prst="rect">
            <a:avLst/>
          </a:prstGeom>
          <a:solidFill>
            <a:srgbClr val="EE1C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KE" dirty="0"/>
              <a:t> </a:t>
            </a:r>
          </a:p>
        </p:txBody>
      </p:sp>
      <p:sp>
        <p:nvSpPr>
          <p:cNvPr id="9" name="Slide Number Placeholder 5">
            <a:extLst>
              <a:ext uri="{FF2B5EF4-FFF2-40B4-BE49-F238E27FC236}">
                <a16:creationId xmlns:a16="http://schemas.microsoft.com/office/drawing/2014/main" id="{8BD49E5D-B7EB-76F9-F970-CF15279FD472}"/>
              </a:ext>
            </a:extLst>
          </p:cNvPr>
          <p:cNvSpPr>
            <a:spLocks noGrp="1"/>
          </p:cNvSpPr>
          <p:nvPr>
            <p:ph type="sldNum" sz="quarter" idx="4"/>
          </p:nvPr>
        </p:nvSpPr>
        <p:spPr>
          <a:xfrm>
            <a:off x="7495889" y="6597744"/>
            <a:ext cx="1518731" cy="207310"/>
          </a:xfrm>
          <a:prstGeom prst="rect">
            <a:avLst/>
          </a:prstGeom>
        </p:spPr>
        <p:txBody>
          <a:bodyPr/>
          <a:lstStyle>
            <a:lvl1pPr algn="r">
              <a:defRPr sz="800">
                <a:solidFill>
                  <a:schemeClr val="bg2"/>
                </a:solidFill>
                <a:latin typeface="Montserrat" panose="02000505000000020004" pitchFamily="2" charset="77"/>
              </a:defRPr>
            </a:lvl1pPr>
          </a:lstStyle>
          <a:p>
            <a:r>
              <a:rPr lang="en-US" dirty="0" err="1"/>
              <a:t>www.redcross.or.ke</a:t>
            </a:r>
            <a:endParaRPr lang="en-US" dirty="0"/>
          </a:p>
        </p:txBody>
      </p:sp>
      <p:pic>
        <p:nvPicPr>
          <p:cNvPr id="10" name="Picture 9">
            <a:extLst>
              <a:ext uri="{FF2B5EF4-FFF2-40B4-BE49-F238E27FC236}">
                <a16:creationId xmlns:a16="http://schemas.microsoft.com/office/drawing/2014/main" id="{CA6C1E16-21BF-99B4-80EC-1F26E45939AF}"/>
              </a:ext>
            </a:extLst>
          </p:cNvPr>
          <p:cNvPicPr>
            <a:picLocks noChangeAspect="1"/>
          </p:cNvPicPr>
          <p:nvPr userDrawn="1"/>
        </p:nvPicPr>
        <p:blipFill>
          <a:blip r:embed="rId2"/>
          <a:stretch>
            <a:fillRect/>
          </a:stretch>
        </p:blipFill>
        <p:spPr>
          <a:xfrm>
            <a:off x="195408" y="6603166"/>
            <a:ext cx="448633" cy="217983"/>
          </a:xfrm>
          <a:prstGeom prst="rect">
            <a:avLst/>
          </a:prstGeom>
        </p:spPr>
      </p:pic>
    </p:spTree>
    <p:extLst>
      <p:ext uri="{BB962C8B-B14F-4D97-AF65-F5344CB8AC3E}">
        <p14:creationId xmlns:p14="http://schemas.microsoft.com/office/powerpoint/2010/main" val="37822190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69624-F3BF-B51F-56DA-184459B2A062}"/>
              </a:ext>
            </a:extLst>
          </p:cNvPr>
          <p:cNvSpPr>
            <a:spLocks noGrp="1"/>
          </p:cNvSpPr>
          <p:nvPr>
            <p:ph type="title"/>
          </p:nvPr>
        </p:nvSpPr>
        <p:spPr>
          <a:xfrm>
            <a:off x="630239" y="987424"/>
            <a:ext cx="2818640" cy="1069975"/>
          </a:xfrm>
          <a:prstGeom prst="rect">
            <a:avLst/>
          </a:prstGeom>
        </p:spPr>
        <p:txBody>
          <a:bodyPr anchor="b"/>
          <a:lstStyle>
            <a:lvl1pPr>
              <a:defRPr sz="3200" b="1"/>
            </a:lvl1pPr>
          </a:lstStyle>
          <a:p>
            <a:r>
              <a:rPr lang="en-GB" dirty="0"/>
              <a:t>Click to edit Master title style</a:t>
            </a:r>
            <a:endParaRPr lang="en-KE" dirty="0"/>
          </a:p>
        </p:txBody>
      </p:sp>
      <p:sp>
        <p:nvSpPr>
          <p:cNvPr id="3" name="Picture Placeholder 2">
            <a:extLst>
              <a:ext uri="{FF2B5EF4-FFF2-40B4-BE49-F238E27FC236}">
                <a16:creationId xmlns:a16="http://schemas.microsoft.com/office/drawing/2014/main" id="{8C9D8F74-174E-B6B4-486C-D7180E1A8E1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A85065EA-AE82-0617-8967-0288486B82D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8" name="Rectangle 7">
            <a:extLst>
              <a:ext uri="{FF2B5EF4-FFF2-40B4-BE49-F238E27FC236}">
                <a16:creationId xmlns:a16="http://schemas.microsoft.com/office/drawing/2014/main" id="{C9AAE482-C9D6-D617-E0D7-897D23B4EFC6}"/>
              </a:ext>
            </a:extLst>
          </p:cNvPr>
          <p:cNvSpPr/>
          <p:nvPr userDrawn="1"/>
        </p:nvSpPr>
        <p:spPr>
          <a:xfrm>
            <a:off x="0" y="6543162"/>
            <a:ext cx="9144000" cy="314838"/>
          </a:xfrm>
          <a:prstGeom prst="rect">
            <a:avLst/>
          </a:prstGeom>
          <a:solidFill>
            <a:srgbClr val="EE1C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KE" dirty="0"/>
              <a:t> </a:t>
            </a:r>
          </a:p>
        </p:txBody>
      </p:sp>
      <p:sp>
        <p:nvSpPr>
          <p:cNvPr id="9" name="Slide Number Placeholder 5">
            <a:extLst>
              <a:ext uri="{FF2B5EF4-FFF2-40B4-BE49-F238E27FC236}">
                <a16:creationId xmlns:a16="http://schemas.microsoft.com/office/drawing/2014/main" id="{49933C9D-4222-D7D1-D4A5-A09F50A17570}"/>
              </a:ext>
            </a:extLst>
          </p:cNvPr>
          <p:cNvSpPr txBox="1">
            <a:spLocks/>
          </p:cNvSpPr>
          <p:nvPr userDrawn="1"/>
        </p:nvSpPr>
        <p:spPr>
          <a:xfrm>
            <a:off x="7495889" y="6597744"/>
            <a:ext cx="1518731" cy="207310"/>
          </a:xfrm>
          <a:prstGeom prst="rect">
            <a:avLst/>
          </a:prstGeom>
        </p:spPr>
        <p:txBody>
          <a:bodyPr vert="horz" lIns="91440" tIns="45720" rIns="91440" bIns="45720" rtlCol="0" anchor="ctr"/>
          <a:lstStyle>
            <a:defPPr>
              <a:defRPr lang="en-US"/>
            </a:defPPr>
            <a:lvl1pPr marL="0" algn="r" defTabSz="914400" rtl="0" eaLnBrk="1" latinLnBrk="0" hangingPunct="1">
              <a:defRPr sz="800" kern="1200">
                <a:solidFill>
                  <a:schemeClr val="bg2"/>
                </a:solidFill>
                <a:latin typeface="Montserrat" panose="02000505000000020004"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www.redcross.or.ke</a:t>
            </a:r>
            <a:endParaRPr lang="en-US" dirty="0"/>
          </a:p>
        </p:txBody>
      </p:sp>
      <p:pic>
        <p:nvPicPr>
          <p:cNvPr id="10" name="Picture 9">
            <a:extLst>
              <a:ext uri="{FF2B5EF4-FFF2-40B4-BE49-F238E27FC236}">
                <a16:creationId xmlns:a16="http://schemas.microsoft.com/office/drawing/2014/main" id="{4B330AE8-3769-1ADD-3EB1-20B19FA547B5}"/>
              </a:ext>
            </a:extLst>
          </p:cNvPr>
          <p:cNvPicPr>
            <a:picLocks noChangeAspect="1"/>
          </p:cNvPicPr>
          <p:nvPr userDrawn="1"/>
        </p:nvPicPr>
        <p:blipFill>
          <a:blip r:embed="rId2"/>
          <a:stretch>
            <a:fillRect/>
          </a:stretch>
        </p:blipFill>
        <p:spPr>
          <a:xfrm>
            <a:off x="195408" y="6603166"/>
            <a:ext cx="448633" cy="217983"/>
          </a:xfrm>
          <a:prstGeom prst="rect">
            <a:avLst/>
          </a:prstGeom>
        </p:spPr>
      </p:pic>
    </p:spTree>
    <p:extLst>
      <p:ext uri="{BB962C8B-B14F-4D97-AF65-F5344CB8AC3E}">
        <p14:creationId xmlns:p14="http://schemas.microsoft.com/office/powerpoint/2010/main" val="1648044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3959FB-4DB2-CD40-8D59-F333C8955B72}"/>
              </a:ext>
            </a:extLst>
          </p:cNvPr>
          <p:cNvSpPr/>
          <p:nvPr userDrawn="1"/>
        </p:nvSpPr>
        <p:spPr>
          <a:xfrm>
            <a:off x="0" y="6554711"/>
            <a:ext cx="9144000" cy="303291"/>
          </a:xfrm>
          <a:prstGeom prst="rect">
            <a:avLst/>
          </a:prstGeom>
          <a:solidFill>
            <a:srgbClr val="EA21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7028C22B-24FE-6BD5-E665-9D332A914FB9}"/>
              </a:ext>
            </a:extLst>
          </p:cNvPr>
          <p:cNvPicPr>
            <a:picLocks noChangeAspect="1"/>
          </p:cNvPicPr>
          <p:nvPr userDrawn="1"/>
        </p:nvPicPr>
        <p:blipFill>
          <a:blip r:embed="rId10"/>
          <a:stretch>
            <a:fillRect/>
          </a:stretch>
        </p:blipFill>
        <p:spPr>
          <a:xfrm>
            <a:off x="0" y="0"/>
            <a:ext cx="1121632" cy="1003852"/>
          </a:xfrm>
          <a:prstGeom prst="rect">
            <a:avLst/>
          </a:prstGeom>
        </p:spPr>
      </p:pic>
    </p:spTree>
    <p:extLst>
      <p:ext uri="{BB962C8B-B14F-4D97-AF65-F5344CB8AC3E}">
        <p14:creationId xmlns:p14="http://schemas.microsoft.com/office/powerpoint/2010/main" val="2280653525"/>
      </p:ext>
    </p:extLst>
  </p:cSld>
  <p:clrMap bg1="lt1" tx1="dk1" bg2="lt2" tx2="dk2" accent1="accent1" accent2="accent2" accent3="accent3" accent4="accent4" accent5="accent5" accent6="accent6" hlink="hlink" folHlink="folHlink"/>
  <p:sldLayoutIdLst>
    <p:sldLayoutId id="2147483652" r:id="rId1"/>
    <p:sldLayoutId id="2147483671" r:id="rId2"/>
    <p:sldLayoutId id="2147483658" r:id="rId3"/>
    <p:sldLayoutId id="2147483653" r:id="rId4"/>
    <p:sldLayoutId id="2147483654" r:id="rId5"/>
    <p:sldLayoutId id="2147483655" r:id="rId6"/>
    <p:sldLayoutId id="2147483657" r:id="rId7"/>
    <p:sldLayoutId id="2147483672" r:id="rId8"/>
  </p:sldLayoutIdLst>
  <p:hf hdr="0" ftr="0"/>
  <p:txStyles>
    <p:titleStyle>
      <a:lvl1pPr algn="l" defTabSz="914400" rtl="0" eaLnBrk="1" latinLnBrk="0" hangingPunct="1">
        <a:lnSpc>
          <a:spcPct val="90000"/>
        </a:lnSpc>
        <a:spcBef>
          <a:spcPct val="0"/>
        </a:spcBef>
        <a:buNone/>
        <a:defRPr sz="4400" b="1" kern="1200">
          <a:solidFill>
            <a:schemeClr val="tx1"/>
          </a:solidFill>
          <a:latin typeface="Montserrat" panose="02000505000000020004"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ontserrat" panose="02000505000000020004"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2000505000000020004"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2000505000000020004"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2000505000000020004"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i="1"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E6CA14-175D-2292-233E-F4D393C8FE5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KE" dirty="0"/>
          </a:p>
        </p:txBody>
      </p:sp>
      <p:pic>
        <p:nvPicPr>
          <p:cNvPr id="5" name="Picture 4">
            <a:extLst>
              <a:ext uri="{FF2B5EF4-FFF2-40B4-BE49-F238E27FC236}">
                <a16:creationId xmlns:a16="http://schemas.microsoft.com/office/drawing/2014/main" id="{51BFC4E6-D198-FEAE-EB56-7227D2F098B3}"/>
              </a:ext>
            </a:extLst>
          </p:cNvPr>
          <p:cNvPicPr>
            <a:picLocks noChangeAspect="1"/>
          </p:cNvPicPr>
          <p:nvPr userDrawn="1"/>
        </p:nvPicPr>
        <p:blipFill>
          <a:blip r:embed="rId9"/>
          <a:stretch>
            <a:fillRect/>
          </a:stretch>
        </p:blipFill>
        <p:spPr>
          <a:xfrm>
            <a:off x="0" y="0"/>
            <a:ext cx="1121632" cy="1003852"/>
          </a:xfrm>
          <a:prstGeom prst="rect">
            <a:avLst/>
          </a:prstGeom>
        </p:spPr>
      </p:pic>
    </p:spTree>
    <p:extLst>
      <p:ext uri="{BB962C8B-B14F-4D97-AF65-F5344CB8AC3E}">
        <p14:creationId xmlns:p14="http://schemas.microsoft.com/office/powerpoint/2010/main" val="3288540024"/>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5" r:id="rId4"/>
    <p:sldLayoutId id="2147483666" r:id="rId5"/>
    <p:sldLayoutId id="2147483667" r:id="rId6"/>
    <p:sldLayoutId id="2147483668" r:id="rId7"/>
  </p:sldLayoutIdLst>
  <p:txStyles>
    <p:titleStyle>
      <a:lvl1pPr algn="l" defTabSz="914400" rtl="0" eaLnBrk="1" latinLnBrk="0" hangingPunct="1">
        <a:lnSpc>
          <a:spcPct val="90000"/>
        </a:lnSpc>
        <a:spcBef>
          <a:spcPct val="0"/>
        </a:spcBef>
        <a:buNone/>
        <a:defRPr sz="4000" b="1" kern="1200">
          <a:solidFill>
            <a:schemeClr val="tx1"/>
          </a:solidFill>
          <a:latin typeface="Montserrat" panose="02000505000000020004"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2000505000000020004"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2000505000000020004"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2000505000000020004"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2000505000000020004"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7F18D-AFEC-6135-E51E-4FF863EC9E9B}"/>
              </a:ext>
            </a:extLst>
          </p:cNvPr>
          <p:cNvSpPr>
            <a:spLocks noGrp="1"/>
          </p:cNvSpPr>
          <p:nvPr>
            <p:ph type="title"/>
          </p:nvPr>
        </p:nvSpPr>
        <p:spPr>
          <a:xfrm>
            <a:off x="812147" y="1680882"/>
            <a:ext cx="7886700" cy="2622177"/>
          </a:xfrm>
        </p:spPr>
        <p:txBody>
          <a:bodyPr/>
          <a:lstStyle/>
          <a:p>
            <a:pPr algn="ctr"/>
            <a:r>
              <a:rPr lang="en-US" dirty="0"/>
              <a:t>KRCS HR Staff Meeting </a:t>
            </a:r>
            <a:br>
              <a:rPr lang="en-US" dirty="0"/>
            </a:br>
            <a:r>
              <a:rPr lang="en-US" dirty="0"/>
              <a:t>April 2026 </a:t>
            </a:r>
            <a:endParaRPr lang="en-KE" dirty="0"/>
          </a:p>
        </p:txBody>
      </p:sp>
    </p:spTree>
    <p:extLst>
      <p:ext uri="{BB962C8B-B14F-4D97-AF65-F5344CB8AC3E}">
        <p14:creationId xmlns:p14="http://schemas.microsoft.com/office/powerpoint/2010/main" val="363791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5B843431-E394-26A7-5851-175BC34C81D0}"/>
              </a:ext>
            </a:extLst>
          </p:cNvPr>
          <p:cNvSpPr txBox="1">
            <a:spLocks noChangeArrowheads="1"/>
          </p:cNvSpPr>
          <p:nvPr/>
        </p:nvSpPr>
        <p:spPr bwMode="auto">
          <a:xfrm>
            <a:off x="1283493" y="217394"/>
            <a:ext cx="63484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Myriad Web Pro" pitchFamily="34" charset="0"/>
              </a:defRPr>
            </a:lvl2pPr>
            <a:lvl3pPr algn="l" rtl="0" eaLnBrk="0" fontAlgn="base" hangingPunct="0">
              <a:spcBef>
                <a:spcPct val="0"/>
              </a:spcBef>
              <a:spcAft>
                <a:spcPct val="0"/>
              </a:spcAft>
              <a:defRPr sz="3200" b="1">
                <a:solidFill>
                  <a:schemeClr val="tx2"/>
                </a:solidFill>
                <a:latin typeface="Myriad Web Pro" pitchFamily="34" charset="0"/>
              </a:defRPr>
            </a:lvl3pPr>
            <a:lvl4pPr algn="l" rtl="0" eaLnBrk="0" fontAlgn="base" hangingPunct="0">
              <a:spcBef>
                <a:spcPct val="0"/>
              </a:spcBef>
              <a:spcAft>
                <a:spcPct val="0"/>
              </a:spcAft>
              <a:defRPr sz="3200" b="1">
                <a:solidFill>
                  <a:schemeClr val="tx2"/>
                </a:solidFill>
                <a:latin typeface="Myriad Web Pro" pitchFamily="34" charset="0"/>
              </a:defRPr>
            </a:lvl4pPr>
            <a:lvl5pPr algn="l" rtl="0" eaLnBrk="0" fontAlgn="base" hangingPunct="0">
              <a:spcBef>
                <a:spcPct val="0"/>
              </a:spcBef>
              <a:spcAft>
                <a:spcPct val="0"/>
              </a:spcAft>
              <a:defRPr sz="3200" b="1">
                <a:solidFill>
                  <a:schemeClr val="tx2"/>
                </a:solidFill>
                <a:latin typeface="Myriad Web Pro" pitchFamily="34" charset="0"/>
              </a:defRPr>
            </a:lvl5pPr>
            <a:lvl6pPr marL="457200" algn="l" rtl="0" fontAlgn="base">
              <a:spcBef>
                <a:spcPct val="0"/>
              </a:spcBef>
              <a:spcAft>
                <a:spcPct val="0"/>
              </a:spcAft>
              <a:defRPr sz="3200" b="1">
                <a:solidFill>
                  <a:schemeClr val="tx2"/>
                </a:solidFill>
                <a:latin typeface="Myriad Web Pro" pitchFamily="34" charset="0"/>
              </a:defRPr>
            </a:lvl6pPr>
            <a:lvl7pPr marL="914400" algn="l" rtl="0" fontAlgn="base">
              <a:spcBef>
                <a:spcPct val="0"/>
              </a:spcBef>
              <a:spcAft>
                <a:spcPct val="0"/>
              </a:spcAft>
              <a:defRPr sz="3200" b="1">
                <a:solidFill>
                  <a:schemeClr val="tx2"/>
                </a:solidFill>
                <a:latin typeface="Myriad Web Pro" pitchFamily="34" charset="0"/>
              </a:defRPr>
            </a:lvl7pPr>
            <a:lvl8pPr marL="1371600" algn="l" rtl="0" fontAlgn="base">
              <a:spcBef>
                <a:spcPct val="0"/>
              </a:spcBef>
              <a:spcAft>
                <a:spcPct val="0"/>
              </a:spcAft>
              <a:defRPr sz="3200" b="1">
                <a:solidFill>
                  <a:schemeClr val="tx2"/>
                </a:solidFill>
                <a:latin typeface="Myriad Web Pro" pitchFamily="34" charset="0"/>
              </a:defRPr>
            </a:lvl8pPr>
            <a:lvl9pPr marL="1828800" algn="l" rtl="0" fontAlgn="base">
              <a:spcBef>
                <a:spcPct val="0"/>
              </a:spcBef>
              <a:spcAft>
                <a:spcPct val="0"/>
              </a:spcAft>
              <a:defRPr sz="3200" b="1">
                <a:solidFill>
                  <a:schemeClr val="tx2"/>
                </a:solidFill>
                <a:latin typeface="Myriad Web Pro" pitchFamily="34" charset="0"/>
              </a:defRPr>
            </a:lvl9pPr>
          </a:lstStyle>
          <a:p>
            <a:r>
              <a:rPr lang="en-US" altLang="en-US" kern="0" dirty="0">
                <a:latin typeface="Garamond" panose="02020404030301010803" pitchFamily="18" charset="0"/>
              </a:rPr>
              <a:t>Headcount </a:t>
            </a:r>
          </a:p>
        </p:txBody>
      </p:sp>
      <p:graphicFrame>
        <p:nvGraphicFramePr>
          <p:cNvPr id="2" name="Chart 1">
            <a:extLst>
              <a:ext uri="{FF2B5EF4-FFF2-40B4-BE49-F238E27FC236}">
                <a16:creationId xmlns:a16="http://schemas.microsoft.com/office/drawing/2014/main" id="{D341F7F5-7928-464D-70A5-39637138347E}"/>
              </a:ext>
            </a:extLst>
          </p:cNvPr>
          <p:cNvGraphicFramePr>
            <a:graphicFrameLocks/>
          </p:cNvGraphicFramePr>
          <p:nvPr>
            <p:extLst>
              <p:ext uri="{D42A27DB-BD31-4B8C-83A1-F6EECF244321}">
                <p14:modId xmlns:p14="http://schemas.microsoft.com/office/powerpoint/2010/main" val="3328259934"/>
              </p:ext>
            </p:extLst>
          </p:nvPr>
        </p:nvGraphicFramePr>
        <p:xfrm>
          <a:off x="1129553" y="1922929"/>
          <a:ext cx="6804212" cy="357691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67397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E77FD-15AC-1F90-D713-8D821F7F7C74}"/>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851A4B9-91C4-F711-DE9D-31F304BB5E0C}"/>
              </a:ext>
            </a:extLst>
          </p:cNvPr>
          <p:cNvSpPr txBox="1">
            <a:spLocks/>
          </p:cNvSpPr>
          <p:nvPr/>
        </p:nvSpPr>
        <p:spPr bwMode="auto">
          <a:xfrm>
            <a:off x="609599" y="1270748"/>
            <a:ext cx="7696200" cy="3718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4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1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19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16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16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9pPr>
          </a:lstStyle>
          <a:p>
            <a:pPr>
              <a:defRPr/>
            </a:pPr>
            <a:r>
              <a:rPr lang="en-US" sz="2000" kern="0" dirty="0">
                <a:solidFill>
                  <a:srgbClr val="000000"/>
                </a:solidFill>
                <a:latin typeface="Garamond" panose="02020404030301010803" pitchFamily="18" charset="0"/>
              </a:rPr>
              <a:t>William Wasonga-WASH Regional Training Officer-Norwegian Red Cross</a:t>
            </a:r>
          </a:p>
          <a:p>
            <a:pPr>
              <a:defRPr/>
            </a:pPr>
            <a:r>
              <a:rPr lang="en-US" sz="2000" kern="0" dirty="0">
                <a:solidFill>
                  <a:srgbClr val="000000"/>
                </a:solidFill>
                <a:latin typeface="Garamond" panose="02020404030301010803" pitchFamily="18" charset="0"/>
              </a:rPr>
              <a:t>Hadija Adan-Relief Assistant-NER</a:t>
            </a:r>
          </a:p>
          <a:p>
            <a:pPr marL="0" indent="0">
              <a:buNone/>
              <a:defRPr/>
            </a:pPr>
            <a:endParaRPr lang="en-US" sz="2000" kern="0" dirty="0">
              <a:solidFill>
                <a:srgbClr val="000000"/>
              </a:solidFill>
              <a:latin typeface="Garamond" panose="02020404030301010803" pitchFamily="18" charset="0"/>
            </a:endParaRPr>
          </a:p>
          <a:p>
            <a:pPr marL="457200" indent="-457200">
              <a:buFont typeface="Wingdings 3" panose="05040102010807070707" pitchFamily="18" charset="2"/>
              <a:buAutoNum type="arabicPeriod"/>
              <a:defRPr/>
            </a:pPr>
            <a:endParaRPr lang="en-US" sz="2000" kern="0" dirty="0">
              <a:latin typeface="Garamond" panose="02020404030301010803" pitchFamily="18" charset="0"/>
            </a:endParaRPr>
          </a:p>
          <a:p>
            <a:pPr marL="457200" indent="-457200">
              <a:buFont typeface="Wingdings 3" panose="05040102010807070707" pitchFamily="18" charset="2"/>
              <a:buAutoNum type="arabicPeriod"/>
              <a:defRPr/>
            </a:pPr>
            <a:endParaRPr lang="en-US" sz="2000" kern="0" dirty="0">
              <a:latin typeface="Garamond" panose="02020404030301010803" pitchFamily="18" charset="0"/>
            </a:endParaRPr>
          </a:p>
          <a:p>
            <a:pPr>
              <a:defRPr/>
            </a:pPr>
            <a:endParaRPr lang="en-US" kern="0" dirty="0">
              <a:latin typeface="Garamond" panose="02020404030301010803" pitchFamily="18" charset="0"/>
            </a:endParaRPr>
          </a:p>
        </p:txBody>
      </p:sp>
      <p:sp>
        <p:nvSpPr>
          <p:cNvPr id="6" name="Title 1">
            <a:extLst>
              <a:ext uri="{FF2B5EF4-FFF2-40B4-BE49-F238E27FC236}">
                <a16:creationId xmlns:a16="http://schemas.microsoft.com/office/drawing/2014/main" id="{39705463-1BDD-3C39-65CD-22DBF5C54F54}"/>
              </a:ext>
            </a:extLst>
          </p:cNvPr>
          <p:cNvSpPr txBox="1">
            <a:spLocks noChangeArrowheads="1"/>
          </p:cNvSpPr>
          <p:nvPr/>
        </p:nvSpPr>
        <p:spPr bwMode="auto">
          <a:xfrm>
            <a:off x="1283493" y="217394"/>
            <a:ext cx="63484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Myriad Web Pro" pitchFamily="34" charset="0"/>
              </a:defRPr>
            </a:lvl2pPr>
            <a:lvl3pPr algn="l" rtl="0" eaLnBrk="0" fontAlgn="base" hangingPunct="0">
              <a:spcBef>
                <a:spcPct val="0"/>
              </a:spcBef>
              <a:spcAft>
                <a:spcPct val="0"/>
              </a:spcAft>
              <a:defRPr sz="3200" b="1">
                <a:solidFill>
                  <a:schemeClr val="tx2"/>
                </a:solidFill>
                <a:latin typeface="Myriad Web Pro" pitchFamily="34" charset="0"/>
              </a:defRPr>
            </a:lvl3pPr>
            <a:lvl4pPr algn="l" rtl="0" eaLnBrk="0" fontAlgn="base" hangingPunct="0">
              <a:spcBef>
                <a:spcPct val="0"/>
              </a:spcBef>
              <a:spcAft>
                <a:spcPct val="0"/>
              </a:spcAft>
              <a:defRPr sz="3200" b="1">
                <a:solidFill>
                  <a:schemeClr val="tx2"/>
                </a:solidFill>
                <a:latin typeface="Myriad Web Pro" pitchFamily="34" charset="0"/>
              </a:defRPr>
            </a:lvl4pPr>
            <a:lvl5pPr algn="l" rtl="0" eaLnBrk="0" fontAlgn="base" hangingPunct="0">
              <a:spcBef>
                <a:spcPct val="0"/>
              </a:spcBef>
              <a:spcAft>
                <a:spcPct val="0"/>
              </a:spcAft>
              <a:defRPr sz="3200" b="1">
                <a:solidFill>
                  <a:schemeClr val="tx2"/>
                </a:solidFill>
                <a:latin typeface="Myriad Web Pro" pitchFamily="34" charset="0"/>
              </a:defRPr>
            </a:lvl5pPr>
            <a:lvl6pPr marL="457200" algn="l" rtl="0" fontAlgn="base">
              <a:spcBef>
                <a:spcPct val="0"/>
              </a:spcBef>
              <a:spcAft>
                <a:spcPct val="0"/>
              </a:spcAft>
              <a:defRPr sz="3200" b="1">
                <a:solidFill>
                  <a:schemeClr val="tx2"/>
                </a:solidFill>
                <a:latin typeface="Myriad Web Pro" pitchFamily="34" charset="0"/>
              </a:defRPr>
            </a:lvl6pPr>
            <a:lvl7pPr marL="914400" algn="l" rtl="0" fontAlgn="base">
              <a:spcBef>
                <a:spcPct val="0"/>
              </a:spcBef>
              <a:spcAft>
                <a:spcPct val="0"/>
              </a:spcAft>
              <a:defRPr sz="3200" b="1">
                <a:solidFill>
                  <a:schemeClr val="tx2"/>
                </a:solidFill>
                <a:latin typeface="Myriad Web Pro" pitchFamily="34" charset="0"/>
              </a:defRPr>
            </a:lvl7pPr>
            <a:lvl8pPr marL="1371600" algn="l" rtl="0" fontAlgn="base">
              <a:spcBef>
                <a:spcPct val="0"/>
              </a:spcBef>
              <a:spcAft>
                <a:spcPct val="0"/>
              </a:spcAft>
              <a:defRPr sz="3200" b="1">
                <a:solidFill>
                  <a:schemeClr val="tx2"/>
                </a:solidFill>
                <a:latin typeface="Myriad Web Pro" pitchFamily="34" charset="0"/>
              </a:defRPr>
            </a:lvl8pPr>
            <a:lvl9pPr marL="1828800" algn="l" rtl="0" fontAlgn="base">
              <a:spcBef>
                <a:spcPct val="0"/>
              </a:spcBef>
              <a:spcAft>
                <a:spcPct val="0"/>
              </a:spcAft>
              <a:defRPr sz="3200" b="1">
                <a:solidFill>
                  <a:schemeClr val="tx2"/>
                </a:solidFill>
                <a:latin typeface="Myriad Web Pro" pitchFamily="34" charset="0"/>
              </a:defRPr>
            </a:lvl9pPr>
          </a:lstStyle>
          <a:p>
            <a:r>
              <a:rPr lang="en-US" altLang="en-US" kern="0" dirty="0">
                <a:latin typeface="Garamond" panose="02020404030301010803" pitchFamily="18" charset="0"/>
              </a:rPr>
              <a:t>New joiners</a:t>
            </a:r>
          </a:p>
        </p:txBody>
      </p:sp>
    </p:spTree>
    <p:extLst>
      <p:ext uri="{BB962C8B-B14F-4D97-AF65-F5344CB8AC3E}">
        <p14:creationId xmlns:p14="http://schemas.microsoft.com/office/powerpoint/2010/main" val="3234202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9B314-B981-2A76-C02D-4610CC409240}"/>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1EBFDCA-4747-5B28-0969-732889E41DFD}"/>
              </a:ext>
            </a:extLst>
          </p:cNvPr>
          <p:cNvSpPr txBox="1">
            <a:spLocks/>
          </p:cNvSpPr>
          <p:nvPr/>
        </p:nvSpPr>
        <p:spPr bwMode="auto">
          <a:xfrm>
            <a:off x="609598" y="1100418"/>
            <a:ext cx="7696200" cy="4937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4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1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19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16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16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defRPr>
            </a:lvl9pPr>
          </a:lstStyle>
          <a:p>
            <a:pPr marL="0" indent="0">
              <a:buNone/>
            </a:pPr>
            <a:endParaRPr lang="nb-NO" sz="1800" kern="0" dirty="0">
              <a:solidFill>
                <a:srgbClr val="000000"/>
              </a:solidFill>
              <a:latin typeface="Garamond" panose="02020404030301010803" pitchFamily="18" charset="0"/>
            </a:endParaRPr>
          </a:p>
          <a:p>
            <a:r>
              <a:rPr lang="nb-NO" sz="1800" kern="0" dirty="0">
                <a:solidFill>
                  <a:srgbClr val="000000"/>
                </a:solidFill>
                <a:latin typeface="Garamond" panose="02020404030301010803" pitchFamily="18" charset="0"/>
              </a:rPr>
              <a:t>Teresia Wangui Ngugi-Project Officer-GBV	</a:t>
            </a:r>
          </a:p>
          <a:p>
            <a:r>
              <a:rPr lang="nb-NO" sz="1800" kern="0" dirty="0">
                <a:solidFill>
                  <a:srgbClr val="000000"/>
                </a:solidFill>
                <a:latin typeface="Garamond" panose="02020404030301010803" pitchFamily="18" charset="0"/>
              </a:rPr>
              <a:t>Christine Nanjala Simiyu-Reproductive Health Coordinator-KRO</a:t>
            </a:r>
          </a:p>
          <a:p>
            <a:pPr eaLnBrk="1" fontAlgn="auto" hangingPunct="1">
              <a:spcBef>
                <a:spcPts val="0"/>
              </a:spcBef>
              <a:spcAft>
                <a:spcPts val="0"/>
              </a:spcAft>
              <a:buClrTx/>
              <a:buSzTx/>
              <a:defRPr/>
            </a:pPr>
            <a:r>
              <a:rPr lang="nb-NO" sz="1800" b="1" kern="0" dirty="0">
                <a:solidFill>
                  <a:srgbClr val="000000"/>
                </a:solidFill>
                <a:latin typeface="Garamond" panose="02020404030301010803" pitchFamily="18" charset="0"/>
              </a:rPr>
              <a:t>Aden Musa Hukha--</a:t>
            </a:r>
            <a:r>
              <a:rPr kumimoji="0" lang="nb-NO" sz="1800" b="1" i="0" u="none" strike="noStrike" kern="0" cap="none" spc="0" normalizeH="0" baseline="0" noProof="0" dirty="0">
                <a:ln>
                  <a:noFill/>
                </a:ln>
                <a:solidFill>
                  <a:srgbClr val="000000"/>
                </a:solidFill>
                <a:effectLst/>
                <a:uLnTx/>
                <a:uFillTx/>
                <a:latin typeface="Garamond" panose="02020404030301010803" pitchFamily="18" charset="0"/>
                <a:ea typeface="+mn-ea"/>
                <a:cs typeface="+mn-cs"/>
              </a:rPr>
              <a:t>Security Guard-Garrisa Refferal</a:t>
            </a:r>
          </a:p>
          <a:p>
            <a:r>
              <a:rPr lang="nb-NO" sz="1800" kern="0" dirty="0">
                <a:solidFill>
                  <a:srgbClr val="000000"/>
                </a:solidFill>
                <a:latin typeface="Garamond" panose="02020404030301010803" pitchFamily="18" charset="0"/>
              </a:rPr>
              <a:t>Hazael Kipyego Biwott-Project Officer-HEALTH	</a:t>
            </a:r>
          </a:p>
          <a:p>
            <a:r>
              <a:rPr lang="nb-NO" sz="1800" kern="0" dirty="0">
                <a:solidFill>
                  <a:srgbClr val="000000"/>
                </a:solidFill>
                <a:latin typeface="Garamond" panose="02020404030301010803" pitchFamily="18" charset="0"/>
              </a:rPr>
              <a:t>Abraham  Kisumbat Kisang-County Coordniator Nandi	</a:t>
            </a:r>
          </a:p>
          <a:p>
            <a:r>
              <a:rPr lang="nb-NO" sz="1800" kern="0" dirty="0">
                <a:solidFill>
                  <a:srgbClr val="000000"/>
                </a:solidFill>
                <a:latin typeface="Garamond" panose="02020404030301010803" pitchFamily="18" charset="0"/>
              </a:rPr>
              <a:t>Zachary  Mwambi Misiani-Climate Research Officer-ICHA</a:t>
            </a:r>
          </a:p>
          <a:p>
            <a:r>
              <a:rPr lang="nb-NO" sz="1800" kern="0" dirty="0">
                <a:solidFill>
                  <a:srgbClr val="000000"/>
                </a:solidFill>
                <a:latin typeface="Garamond" panose="02020404030301010803" pitchFamily="18" charset="0"/>
              </a:rPr>
              <a:t>Mohamed Ahmed  Adan-Medical Officer</a:t>
            </a:r>
          </a:p>
          <a:p>
            <a:r>
              <a:rPr lang="nb-NO" sz="1800" kern="0" dirty="0">
                <a:solidFill>
                  <a:srgbClr val="000000"/>
                </a:solidFill>
                <a:latin typeface="Garamond" panose="02020404030301010803" pitchFamily="18" charset="0"/>
              </a:rPr>
              <a:t>Abdulrahman Ali  Hassan-Medical Officer-DRO</a:t>
            </a:r>
          </a:p>
          <a:p>
            <a:r>
              <a:rPr lang="nb-NO" sz="1800" kern="0" dirty="0">
                <a:solidFill>
                  <a:srgbClr val="000000"/>
                </a:solidFill>
                <a:latin typeface="Garamond" panose="02020404030301010803" pitchFamily="18" charset="0"/>
              </a:rPr>
              <a:t>Ann Muthoni Mwangi-Admin &amp; Logistics Assistant- Nowergian RC</a:t>
            </a:r>
          </a:p>
          <a:p>
            <a:r>
              <a:rPr lang="nb-NO" sz="1800" kern="0" dirty="0">
                <a:solidFill>
                  <a:srgbClr val="000000"/>
                </a:solidFill>
                <a:latin typeface="Garamond" panose="02020404030301010803" pitchFamily="18" charset="0"/>
              </a:rPr>
              <a:t>Caroline Jelagat  Ruto-Nursing Officer-KRO	</a:t>
            </a:r>
          </a:p>
          <a:p>
            <a:r>
              <a:rPr lang="nb-NO" sz="1800" kern="0" dirty="0">
                <a:solidFill>
                  <a:srgbClr val="000000"/>
                </a:solidFill>
                <a:latin typeface="Garamond" panose="02020404030301010803" pitchFamily="18" charset="0"/>
              </a:rPr>
              <a:t>Esther Nanyait Echwa-Nursing Officer-KRO	</a:t>
            </a:r>
          </a:p>
          <a:p>
            <a:pPr marL="0" indent="0">
              <a:buNone/>
            </a:pPr>
            <a:r>
              <a:rPr lang="nb-NO" sz="1800" kern="0" dirty="0">
                <a:solidFill>
                  <a:srgbClr val="000000"/>
                </a:solidFill>
                <a:latin typeface="Garamond" panose="02020404030301010803" pitchFamily="18" charset="0"/>
              </a:rPr>
              <a:t>	</a:t>
            </a:r>
          </a:p>
          <a:p>
            <a:pPr marL="0" indent="0">
              <a:buNone/>
            </a:pPr>
            <a:endParaRPr lang="nb-NO" sz="1800" kern="0" dirty="0">
              <a:solidFill>
                <a:srgbClr val="000000"/>
              </a:solidFill>
              <a:latin typeface="Garamond" panose="02020404030301010803" pitchFamily="18" charset="0"/>
            </a:endParaRPr>
          </a:p>
          <a:p>
            <a:pPr marL="0" indent="0">
              <a:buNone/>
            </a:pPr>
            <a:endParaRPr lang="nb-NO" sz="1800" kern="0" dirty="0">
              <a:solidFill>
                <a:srgbClr val="000000"/>
              </a:solidFill>
              <a:latin typeface="Garamond" panose="02020404030301010803" pitchFamily="18" charset="0"/>
            </a:endParaRPr>
          </a:p>
          <a:p>
            <a:pPr marL="228600" indent="0">
              <a:spcBef>
                <a:spcPts val="0"/>
              </a:spcBef>
              <a:spcAft>
                <a:spcPts val="0"/>
              </a:spcAft>
              <a:buFont typeface="Wingdings" panose="05000000000000000000" pitchFamily="2" charset="2"/>
              <a:buNone/>
            </a:pPr>
            <a:endParaRPr lang="en-US" sz="1800" kern="0" dirty="0">
              <a:solidFill>
                <a:srgbClr val="000000"/>
              </a:solidFill>
              <a:highlight>
                <a:srgbClr val="FFFFFF"/>
              </a:highlight>
              <a:latin typeface="Garamond" panose="02020404030301010803" pitchFamily="18" charset="0"/>
            </a:endParaRPr>
          </a:p>
          <a:p>
            <a:pPr marL="457200" indent="-228600">
              <a:spcBef>
                <a:spcPts val="0"/>
              </a:spcBef>
              <a:spcAft>
                <a:spcPts val="0"/>
              </a:spcAft>
            </a:pPr>
            <a:endParaRPr lang="en-US" sz="1800" kern="0" dirty="0">
              <a:solidFill>
                <a:srgbClr val="000000"/>
              </a:solidFill>
              <a:highlight>
                <a:srgbClr val="FFFFFF"/>
              </a:highlight>
              <a:latin typeface="Garamond" panose="02020404030301010803" pitchFamily="18" charset="0"/>
            </a:endParaRPr>
          </a:p>
          <a:p>
            <a:pPr marL="457200" indent="-228600">
              <a:spcBef>
                <a:spcPts val="0"/>
              </a:spcBef>
              <a:spcAft>
                <a:spcPts val="0"/>
              </a:spcAft>
            </a:pPr>
            <a:endParaRPr lang="en-US" sz="1800" kern="0" dirty="0">
              <a:solidFill>
                <a:srgbClr val="000000"/>
              </a:solidFill>
              <a:highlight>
                <a:srgbClr val="FFFFFF"/>
              </a:highlight>
              <a:latin typeface="Garamond" panose="02020404030301010803" pitchFamily="18" charset="0"/>
            </a:endParaRPr>
          </a:p>
          <a:p>
            <a:pPr marL="457200" indent="-228600">
              <a:spcBef>
                <a:spcPts val="0"/>
              </a:spcBef>
              <a:spcAft>
                <a:spcPts val="0"/>
              </a:spcAft>
            </a:pPr>
            <a:endParaRPr lang="en-US" sz="1800" kern="0" dirty="0">
              <a:solidFill>
                <a:srgbClr val="000000"/>
              </a:solidFill>
              <a:highlight>
                <a:srgbClr val="FFFFFF"/>
              </a:highlight>
              <a:latin typeface="Garamond" panose="02020404030301010803" pitchFamily="18" charset="0"/>
            </a:endParaRPr>
          </a:p>
          <a:p>
            <a:pPr marL="228600" indent="0">
              <a:spcBef>
                <a:spcPts val="0"/>
              </a:spcBef>
              <a:spcAft>
                <a:spcPts val="0"/>
              </a:spcAft>
              <a:buFont typeface="Wingdings" panose="05000000000000000000" pitchFamily="2" charset="2"/>
              <a:buNone/>
            </a:pPr>
            <a:endParaRPr lang="en-US" sz="2000" kern="0" dirty="0">
              <a:solidFill>
                <a:srgbClr val="242424"/>
              </a:solidFill>
              <a:latin typeface="Calibri" panose="020F0502020204030204" pitchFamily="34" charset="0"/>
            </a:endParaRPr>
          </a:p>
          <a:p>
            <a:pPr marL="228600" indent="0">
              <a:spcBef>
                <a:spcPts val="0"/>
              </a:spcBef>
              <a:spcAft>
                <a:spcPts val="0"/>
              </a:spcAft>
              <a:buFont typeface="Wingdings" panose="05000000000000000000" pitchFamily="2" charset="2"/>
              <a:buNone/>
            </a:pPr>
            <a:endParaRPr lang="en-US" sz="2000" kern="0" dirty="0">
              <a:solidFill>
                <a:srgbClr val="242424"/>
              </a:solidFill>
              <a:latin typeface="Calibri" panose="020F0502020204030204" pitchFamily="34" charset="0"/>
            </a:endParaRPr>
          </a:p>
          <a:p>
            <a:pPr marL="457200" indent="-228600">
              <a:spcBef>
                <a:spcPts val="0"/>
              </a:spcBef>
              <a:spcAft>
                <a:spcPts val="0"/>
              </a:spcAft>
            </a:pPr>
            <a:endParaRPr lang="en-US" sz="2000" kern="0" dirty="0">
              <a:solidFill>
                <a:srgbClr val="242424"/>
              </a:solidFill>
              <a:latin typeface="Calibri" panose="020F0502020204030204" pitchFamily="34" charset="0"/>
            </a:endParaRPr>
          </a:p>
          <a:p>
            <a:pPr algn="just">
              <a:buFont typeface="Arial" panose="020B0604020202020204" pitchFamily="34" charset="0"/>
              <a:buChar char="•"/>
              <a:defRPr/>
            </a:pPr>
            <a:endParaRPr lang="en-US" sz="2000" kern="0" dirty="0">
              <a:latin typeface="Garamond" panose="02020404030301010803" pitchFamily="18" charset="0"/>
              <a:cs typeface="Times New Roman" panose="02020603050405020304" pitchFamily="18" charset="0"/>
            </a:endParaRPr>
          </a:p>
          <a:p>
            <a:pPr marL="0" indent="0" algn="just">
              <a:buFont typeface="Wingdings" panose="05000000000000000000" pitchFamily="2" charset="2"/>
              <a:buNone/>
              <a:defRPr/>
            </a:pPr>
            <a:endParaRPr lang="en-US" sz="1400" kern="0" dirty="0">
              <a:latin typeface="Times New Roman" panose="02020603050405020304" pitchFamily="18" charset="0"/>
              <a:ea typeface="Times New Roman" panose="02020603050405020304" pitchFamily="18" charset="0"/>
            </a:endParaRPr>
          </a:p>
          <a:p>
            <a:pPr marL="0" indent="0">
              <a:buFont typeface="Wingdings" panose="05000000000000000000" pitchFamily="2" charset="2"/>
              <a:buNone/>
              <a:defRPr/>
            </a:pPr>
            <a:endParaRPr lang="en-US" sz="2000" kern="0" dirty="0">
              <a:latin typeface="Garamond" panose="02020404030301010803" pitchFamily="18" charset="0"/>
            </a:endParaRPr>
          </a:p>
          <a:p>
            <a:pPr marL="0" indent="0">
              <a:buFont typeface="Wingdings" panose="05000000000000000000" pitchFamily="2" charset="2"/>
              <a:buNone/>
              <a:defRPr/>
            </a:pPr>
            <a:endParaRPr lang="en-US" sz="2000" kern="0" dirty="0">
              <a:latin typeface="Garamond" panose="02020404030301010803" pitchFamily="18" charset="0"/>
            </a:endParaRPr>
          </a:p>
          <a:p>
            <a:pPr marL="457200" indent="-457200">
              <a:buFont typeface="Wingdings 3" panose="05040102010807070707" pitchFamily="18" charset="2"/>
              <a:buAutoNum type="arabicPeriod"/>
              <a:defRPr/>
            </a:pPr>
            <a:endParaRPr lang="en-US" sz="2000" kern="0" dirty="0">
              <a:latin typeface="Garamond" panose="02020404030301010803" pitchFamily="18" charset="0"/>
            </a:endParaRPr>
          </a:p>
          <a:p>
            <a:pPr marL="457200" indent="-457200">
              <a:buFont typeface="Wingdings 3" panose="05040102010807070707" pitchFamily="18" charset="2"/>
              <a:buAutoNum type="arabicPeriod"/>
              <a:defRPr/>
            </a:pPr>
            <a:endParaRPr lang="en-US" sz="2000" kern="0" dirty="0">
              <a:latin typeface="Garamond" panose="02020404030301010803" pitchFamily="18" charset="0"/>
            </a:endParaRPr>
          </a:p>
          <a:p>
            <a:pPr>
              <a:defRPr/>
            </a:pPr>
            <a:endParaRPr lang="en-US" kern="0" dirty="0">
              <a:latin typeface="Garamond" panose="02020404030301010803" pitchFamily="18" charset="0"/>
            </a:endParaRPr>
          </a:p>
        </p:txBody>
      </p:sp>
      <p:sp>
        <p:nvSpPr>
          <p:cNvPr id="6" name="Title 1">
            <a:extLst>
              <a:ext uri="{FF2B5EF4-FFF2-40B4-BE49-F238E27FC236}">
                <a16:creationId xmlns:a16="http://schemas.microsoft.com/office/drawing/2014/main" id="{2C4927B4-781B-9AB4-4798-F8A0B9B3DE36}"/>
              </a:ext>
            </a:extLst>
          </p:cNvPr>
          <p:cNvSpPr txBox="1">
            <a:spLocks noChangeArrowheads="1"/>
          </p:cNvSpPr>
          <p:nvPr/>
        </p:nvSpPr>
        <p:spPr bwMode="auto">
          <a:xfrm>
            <a:off x="1283492" y="228600"/>
            <a:ext cx="63484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Myriad Web Pro" pitchFamily="34" charset="0"/>
              </a:defRPr>
            </a:lvl2pPr>
            <a:lvl3pPr algn="l" rtl="0" eaLnBrk="0" fontAlgn="base" hangingPunct="0">
              <a:spcBef>
                <a:spcPct val="0"/>
              </a:spcBef>
              <a:spcAft>
                <a:spcPct val="0"/>
              </a:spcAft>
              <a:defRPr sz="3200" b="1">
                <a:solidFill>
                  <a:schemeClr val="tx2"/>
                </a:solidFill>
                <a:latin typeface="Myriad Web Pro" pitchFamily="34" charset="0"/>
              </a:defRPr>
            </a:lvl3pPr>
            <a:lvl4pPr algn="l" rtl="0" eaLnBrk="0" fontAlgn="base" hangingPunct="0">
              <a:spcBef>
                <a:spcPct val="0"/>
              </a:spcBef>
              <a:spcAft>
                <a:spcPct val="0"/>
              </a:spcAft>
              <a:defRPr sz="3200" b="1">
                <a:solidFill>
                  <a:schemeClr val="tx2"/>
                </a:solidFill>
                <a:latin typeface="Myriad Web Pro" pitchFamily="34" charset="0"/>
              </a:defRPr>
            </a:lvl4pPr>
            <a:lvl5pPr algn="l" rtl="0" eaLnBrk="0" fontAlgn="base" hangingPunct="0">
              <a:spcBef>
                <a:spcPct val="0"/>
              </a:spcBef>
              <a:spcAft>
                <a:spcPct val="0"/>
              </a:spcAft>
              <a:defRPr sz="3200" b="1">
                <a:solidFill>
                  <a:schemeClr val="tx2"/>
                </a:solidFill>
                <a:latin typeface="Myriad Web Pro" pitchFamily="34" charset="0"/>
              </a:defRPr>
            </a:lvl5pPr>
            <a:lvl6pPr marL="457200" algn="l" rtl="0" fontAlgn="base">
              <a:spcBef>
                <a:spcPct val="0"/>
              </a:spcBef>
              <a:spcAft>
                <a:spcPct val="0"/>
              </a:spcAft>
              <a:defRPr sz="3200" b="1">
                <a:solidFill>
                  <a:schemeClr val="tx2"/>
                </a:solidFill>
                <a:latin typeface="Myriad Web Pro" pitchFamily="34" charset="0"/>
              </a:defRPr>
            </a:lvl6pPr>
            <a:lvl7pPr marL="914400" algn="l" rtl="0" fontAlgn="base">
              <a:spcBef>
                <a:spcPct val="0"/>
              </a:spcBef>
              <a:spcAft>
                <a:spcPct val="0"/>
              </a:spcAft>
              <a:defRPr sz="3200" b="1">
                <a:solidFill>
                  <a:schemeClr val="tx2"/>
                </a:solidFill>
                <a:latin typeface="Myriad Web Pro" pitchFamily="34" charset="0"/>
              </a:defRPr>
            </a:lvl7pPr>
            <a:lvl8pPr marL="1371600" algn="l" rtl="0" fontAlgn="base">
              <a:spcBef>
                <a:spcPct val="0"/>
              </a:spcBef>
              <a:spcAft>
                <a:spcPct val="0"/>
              </a:spcAft>
              <a:defRPr sz="3200" b="1">
                <a:solidFill>
                  <a:schemeClr val="tx2"/>
                </a:solidFill>
                <a:latin typeface="Myriad Web Pro" pitchFamily="34" charset="0"/>
              </a:defRPr>
            </a:lvl8pPr>
            <a:lvl9pPr marL="1828800" algn="l" rtl="0" fontAlgn="base">
              <a:spcBef>
                <a:spcPct val="0"/>
              </a:spcBef>
              <a:spcAft>
                <a:spcPct val="0"/>
              </a:spcAft>
              <a:defRPr sz="3200" b="1">
                <a:solidFill>
                  <a:schemeClr val="tx2"/>
                </a:solidFill>
                <a:latin typeface="Myriad Web Pro" pitchFamily="34" charset="0"/>
              </a:defRPr>
            </a:lvl9pPr>
          </a:lstStyle>
          <a:p>
            <a:r>
              <a:rPr lang="en-US" altLang="en-US" kern="0" dirty="0">
                <a:latin typeface="Garamond" panose="02020404030301010803" pitchFamily="18" charset="0"/>
              </a:rPr>
              <a:t>Leavers </a:t>
            </a:r>
          </a:p>
        </p:txBody>
      </p:sp>
    </p:spTree>
    <p:extLst>
      <p:ext uri="{BB962C8B-B14F-4D97-AF65-F5344CB8AC3E}">
        <p14:creationId xmlns:p14="http://schemas.microsoft.com/office/powerpoint/2010/main" val="420712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632E-BEE7-F86E-5751-5C188E90E51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E3D34BE-5B3A-BD00-42F4-5FD32628D675}"/>
              </a:ext>
            </a:extLst>
          </p:cNvPr>
          <p:cNvSpPr txBox="1">
            <a:spLocks noChangeArrowheads="1"/>
          </p:cNvSpPr>
          <p:nvPr/>
        </p:nvSpPr>
        <p:spPr bwMode="auto">
          <a:xfrm>
            <a:off x="1283493" y="217394"/>
            <a:ext cx="63484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Myriad Web Pro" pitchFamily="34" charset="0"/>
              </a:defRPr>
            </a:lvl2pPr>
            <a:lvl3pPr algn="l" rtl="0" eaLnBrk="0" fontAlgn="base" hangingPunct="0">
              <a:spcBef>
                <a:spcPct val="0"/>
              </a:spcBef>
              <a:spcAft>
                <a:spcPct val="0"/>
              </a:spcAft>
              <a:defRPr sz="3200" b="1">
                <a:solidFill>
                  <a:schemeClr val="tx2"/>
                </a:solidFill>
                <a:latin typeface="Myriad Web Pro" pitchFamily="34" charset="0"/>
              </a:defRPr>
            </a:lvl3pPr>
            <a:lvl4pPr algn="l" rtl="0" eaLnBrk="0" fontAlgn="base" hangingPunct="0">
              <a:spcBef>
                <a:spcPct val="0"/>
              </a:spcBef>
              <a:spcAft>
                <a:spcPct val="0"/>
              </a:spcAft>
              <a:defRPr sz="3200" b="1">
                <a:solidFill>
                  <a:schemeClr val="tx2"/>
                </a:solidFill>
                <a:latin typeface="Myriad Web Pro" pitchFamily="34" charset="0"/>
              </a:defRPr>
            </a:lvl4pPr>
            <a:lvl5pPr algn="l" rtl="0" eaLnBrk="0" fontAlgn="base" hangingPunct="0">
              <a:spcBef>
                <a:spcPct val="0"/>
              </a:spcBef>
              <a:spcAft>
                <a:spcPct val="0"/>
              </a:spcAft>
              <a:defRPr sz="3200" b="1">
                <a:solidFill>
                  <a:schemeClr val="tx2"/>
                </a:solidFill>
                <a:latin typeface="Myriad Web Pro" pitchFamily="34" charset="0"/>
              </a:defRPr>
            </a:lvl5pPr>
            <a:lvl6pPr marL="457200" algn="l" rtl="0" fontAlgn="base">
              <a:spcBef>
                <a:spcPct val="0"/>
              </a:spcBef>
              <a:spcAft>
                <a:spcPct val="0"/>
              </a:spcAft>
              <a:defRPr sz="3200" b="1">
                <a:solidFill>
                  <a:schemeClr val="tx2"/>
                </a:solidFill>
                <a:latin typeface="Myriad Web Pro" pitchFamily="34" charset="0"/>
              </a:defRPr>
            </a:lvl6pPr>
            <a:lvl7pPr marL="914400" algn="l" rtl="0" fontAlgn="base">
              <a:spcBef>
                <a:spcPct val="0"/>
              </a:spcBef>
              <a:spcAft>
                <a:spcPct val="0"/>
              </a:spcAft>
              <a:defRPr sz="3200" b="1">
                <a:solidFill>
                  <a:schemeClr val="tx2"/>
                </a:solidFill>
                <a:latin typeface="Myriad Web Pro" pitchFamily="34" charset="0"/>
              </a:defRPr>
            </a:lvl7pPr>
            <a:lvl8pPr marL="1371600" algn="l" rtl="0" fontAlgn="base">
              <a:spcBef>
                <a:spcPct val="0"/>
              </a:spcBef>
              <a:spcAft>
                <a:spcPct val="0"/>
              </a:spcAft>
              <a:defRPr sz="3200" b="1">
                <a:solidFill>
                  <a:schemeClr val="tx2"/>
                </a:solidFill>
                <a:latin typeface="Myriad Web Pro" pitchFamily="34" charset="0"/>
              </a:defRPr>
            </a:lvl8pPr>
            <a:lvl9pPr marL="1828800" algn="l" rtl="0" fontAlgn="base">
              <a:spcBef>
                <a:spcPct val="0"/>
              </a:spcBef>
              <a:spcAft>
                <a:spcPct val="0"/>
              </a:spcAft>
              <a:defRPr sz="3200" b="1">
                <a:solidFill>
                  <a:schemeClr val="tx2"/>
                </a:solidFill>
                <a:latin typeface="Myriad Web Pro" pitchFamily="34" charset="0"/>
              </a:defRPr>
            </a:lvl9pPr>
          </a:lstStyle>
          <a:p>
            <a:r>
              <a:rPr lang="en-US" altLang="en-US" kern="0" dirty="0">
                <a:latin typeface="Garamond" panose="02020404030301010803" pitchFamily="18" charset="0"/>
              </a:rPr>
              <a:t>HR Pointers </a:t>
            </a:r>
          </a:p>
        </p:txBody>
      </p:sp>
      <p:sp>
        <p:nvSpPr>
          <p:cNvPr id="4" name="TextBox 3">
            <a:extLst>
              <a:ext uri="{FF2B5EF4-FFF2-40B4-BE49-F238E27FC236}">
                <a16:creationId xmlns:a16="http://schemas.microsoft.com/office/drawing/2014/main" id="{60DA0D54-0E78-67D9-1F34-097E2182064D}"/>
              </a:ext>
            </a:extLst>
          </p:cNvPr>
          <p:cNvSpPr txBox="1"/>
          <p:nvPr/>
        </p:nvSpPr>
        <p:spPr>
          <a:xfrm>
            <a:off x="268940" y="1369239"/>
            <a:ext cx="8377518" cy="3416320"/>
          </a:xfrm>
          <a:prstGeom prst="rect">
            <a:avLst/>
          </a:prstGeom>
          <a:noFill/>
        </p:spPr>
        <p:txBody>
          <a:bodyPr wrap="square">
            <a:spAutoFit/>
          </a:bodyPr>
          <a:lstStyle/>
          <a:p>
            <a:pPr marL="342900" indent="-342900" algn="just" eaLnBrk="0" fontAlgn="base" hangingPunct="0">
              <a:spcBef>
                <a:spcPct val="20000"/>
              </a:spcBef>
              <a:spcAft>
                <a:spcPct val="0"/>
              </a:spcAft>
              <a:buClr>
                <a:schemeClr val="tx2"/>
              </a:buClr>
              <a:buSzPct val="70000"/>
              <a:buFont typeface="Wingdings" panose="05000000000000000000" pitchFamily="2" charset="2"/>
              <a:buChar char="l"/>
            </a:pPr>
            <a:r>
              <a:rPr lang="en-US" kern="0" dirty="0">
                <a:solidFill>
                  <a:srgbClr val="000000"/>
                </a:solidFill>
                <a:latin typeface="Garamond" panose="02020404030301010803" pitchFamily="18" charset="0"/>
              </a:rPr>
              <a:t>A reminder to update our beneficiaries in the SHA portal.</a:t>
            </a:r>
          </a:p>
          <a:p>
            <a:pPr marL="342900" indent="-342900" algn="just" eaLnBrk="0" fontAlgn="base" hangingPunct="0">
              <a:spcBef>
                <a:spcPct val="20000"/>
              </a:spcBef>
              <a:spcAft>
                <a:spcPct val="0"/>
              </a:spcAft>
              <a:buClr>
                <a:schemeClr val="tx2"/>
              </a:buClr>
              <a:buSzPct val="70000"/>
              <a:buFont typeface="Wingdings" panose="05000000000000000000" pitchFamily="2" charset="2"/>
              <a:buChar char="l"/>
            </a:pPr>
            <a:r>
              <a:rPr lang="en-US" kern="0" dirty="0">
                <a:solidFill>
                  <a:srgbClr val="000000"/>
                </a:solidFill>
                <a:latin typeface="Garamond" panose="02020404030301010803" pitchFamily="18" charset="0"/>
              </a:rPr>
              <a:t>As part of the commitment to maintain a safe work environment, all staff and volunteers are requested to complete the </a:t>
            </a:r>
            <a:r>
              <a:rPr lang="en-US" b="1" kern="0" dirty="0">
                <a:solidFill>
                  <a:srgbClr val="000000"/>
                </a:solidFill>
                <a:latin typeface="Garamond" panose="02020404030301010803" pitchFamily="18" charset="0"/>
              </a:rPr>
              <a:t>mandatory</a:t>
            </a:r>
            <a:r>
              <a:rPr lang="en-US" kern="0" dirty="0">
                <a:solidFill>
                  <a:srgbClr val="000000"/>
                </a:solidFill>
                <a:latin typeface="Garamond" panose="02020404030301010803" pitchFamily="18" charset="0"/>
              </a:rPr>
              <a:t> IFRC Child Safeguarding and PSEAH courses and share their certificates with their supervisors.</a:t>
            </a:r>
          </a:p>
          <a:p>
            <a:pPr marL="342900" indent="-342900" algn="just" eaLnBrk="0" fontAlgn="base" hangingPunct="0">
              <a:spcBef>
                <a:spcPct val="20000"/>
              </a:spcBef>
              <a:spcAft>
                <a:spcPct val="0"/>
              </a:spcAft>
              <a:buClr>
                <a:schemeClr val="tx2"/>
              </a:buClr>
              <a:buSzPct val="70000"/>
              <a:buFont typeface="Wingdings" panose="05000000000000000000" pitchFamily="2" charset="2"/>
              <a:buChar char="l"/>
            </a:pPr>
            <a:r>
              <a:rPr lang="en-US" b="1" kern="0" dirty="0">
                <a:solidFill>
                  <a:srgbClr val="000000"/>
                </a:solidFill>
                <a:latin typeface="Garamond" panose="02020404030301010803" pitchFamily="18" charset="0"/>
              </a:rPr>
              <a:t>Mandatory</a:t>
            </a:r>
            <a:r>
              <a:rPr lang="en-US" kern="0" dirty="0">
                <a:solidFill>
                  <a:srgbClr val="000000"/>
                </a:solidFill>
                <a:latin typeface="Garamond" panose="02020404030301010803" pitchFamily="18" charset="0"/>
              </a:rPr>
              <a:t> First Aid training is on going for all staff , it started in March 2026, (Coast region) in conjunction with KRCTI. A training plan will be communicated on time and all department heads are requested to support their staff to attend. HQ is set to start in the next two weeks. Look out for the calendar invite.</a:t>
            </a:r>
          </a:p>
          <a:p>
            <a:pPr algn="just" eaLnBrk="0" fontAlgn="base" hangingPunct="0">
              <a:spcBef>
                <a:spcPct val="20000"/>
              </a:spcBef>
              <a:spcAft>
                <a:spcPct val="0"/>
              </a:spcAft>
              <a:buClr>
                <a:schemeClr val="tx2"/>
              </a:buClr>
              <a:buSzPct val="70000"/>
            </a:pPr>
            <a:endParaRPr lang="en-US" kern="0" dirty="0">
              <a:solidFill>
                <a:srgbClr val="000000"/>
              </a:solidFill>
              <a:latin typeface="Garamond" panose="02020404030301010803" pitchFamily="18" charset="0"/>
            </a:endParaRPr>
          </a:p>
          <a:p>
            <a:pPr marL="342900" indent="-342900" algn="just" eaLnBrk="0" fontAlgn="base" hangingPunct="0">
              <a:spcBef>
                <a:spcPct val="20000"/>
              </a:spcBef>
              <a:spcAft>
                <a:spcPct val="0"/>
              </a:spcAft>
              <a:buClr>
                <a:schemeClr val="tx2"/>
              </a:buClr>
              <a:buSzPct val="70000"/>
              <a:buFont typeface="Wingdings" panose="05000000000000000000" pitchFamily="2" charset="2"/>
              <a:buChar char="l"/>
            </a:pPr>
            <a:endParaRPr lang="en-US" kern="0" dirty="0">
              <a:solidFill>
                <a:srgbClr val="000000"/>
              </a:solidFill>
              <a:latin typeface="Garamond" panose="02020404030301010803" pitchFamily="18" charset="0"/>
            </a:endParaRPr>
          </a:p>
          <a:p>
            <a:pPr marL="342900" indent="-342900" algn="just" eaLnBrk="0" fontAlgn="base" hangingPunct="0">
              <a:spcBef>
                <a:spcPct val="20000"/>
              </a:spcBef>
              <a:spcAft>
                <a:spcPct val="0"/>
              </a:spcAft>
              <a:buClr>
                <a:schemeClr val="tx2"/>
              </a:buClr>
              <a:buSzPct val="70000"/>
              <a:buFont typeface="Wingdings" panose="05000000000000000000" pitchFamily="2" charset="2"/>
              <a:buChar char="l"/>
            </a:pPr>
            <a:endParaRPr lang="en-US" kern="0" dirty="0">
              <a:solidFill>
                <a:srgbClr val="000000"/>
              </a:solidFill>
              <a:latin typeface="Garamond" panose="02020404030301010803" pitchFamily="18" charset="0"/>
            </a:endParaRPr>
          </a:p>
        </p:txBody>
      </p:sp>
    </p:spTree>
    <p:extLst>
      <p:ext uri="{BB962C8B-B14F-4D97-AF65-F5344CB8AC3E}">
        <p14:creationId xmlns:p14="http://schemas.microsoft.com/office/powerpoint/2010/main" val="394275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C649A-D226-A069-4630-4E2D88C0CE3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DA05B0B-CA82-7992-8590-3AAB9D2651B7}"/>
              </a:ext>
            </a:extLst>
          </p:cNvPr>
          <p:cNvSpPr txBox="1">
            <a:spLocks noChangeArrowheads="1"/>
          </p:cNvSpPr>
          <p:nvPr/>
        </p:nvSpPr>
        <p:spPr bwMode="auto">
          <a:xfrm>
            <a:off x="1283493" y="217394"/>
            <a:ext cx="63484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Myriad Web Pro" pitchFamily="34" charset="0"/>
              </a:defRPr>
            </a:lvl2pPr>
            <a:lvl3pPr algn="l" rtl="0" eaLnBrk="0" fontAlgn="base" hangingPunct="0">
              <a:spcBef>
                <a:spcPct val="0"/>
              </a:spcBef>
              <a:spcAft>
                <a:spcPct val="0"/>
              </a:spcAft>
              <a:defRPr sz="3200" b="1">
                <a:solidFill>
                  <a:schemeClr val="tx2"/>
                </a:solidFill>
                <a:latin typeface="Myriad Web Pro" pitchFamily="34" charset="0"/>
              </a:defRPr>
            </a:lvl3pPr>
            <a:lvl4pPr algn="l" rtl="0" eaLnBrk="0" fontAlgn="base" hangingPunct="0">
              <a:spcBef>
                <a:spcPct val="0"/>
              </a:spcBef>
              <a:spcAft>
                <a:spcPct val="0"/>
              </a:spcAft>
              <a:defRPr sz="3200" b="1">
                <a:solidFill>
                  <a:schemeClr val="tx2"/>
                </a:solidFill>
                <a:latin typeface="Myriad Web Pro" pitchFamily="34" charset="0"/>
              </a:defRPr>
            </a:lvl4pPr>
            <a:lvl5pPr algn="l" rtl="0" eaLnBrk="0" fontAlgn="base" hangingPunct="0">
              <a:spcBef>
                <a:spcPct val="0"/>
              </a:spcBef>
              <a:spcAft>
                <a:spcPct val="0"/>
              </a:spcAft>
              <a:defRPr sz="3200" b="1">
                <a:solidFill>
                  <a:schemeClr val="tx2"/>
                </a:solidFill>
                <a:latin typeface="Myriad Web Pro" pitchFamily="34" charset="0"/>
              </a:defRPr>
            </a:lvl5pPr>
            <a:lvl6pPr marL="457200" algn="l" rtl="0" fontAlgn="base">
              <a:spcBef>
                <a:spcPct val="0"/>
              </a:spcBef>
              <a:spcAft>
                <a:spcPct val="0"/>
              </a:spcAft>
              <a:defRPr sz="3200" b="1">
                <a:solidFill>
                  <a:schemeClr val="tx2"/>
                </a:solidFill>
                <a:latin typeface="Myriad Web Pro" pitchFamily="34" charset="0"/>
              </a:defRPr>
            </a:lvl6pPr>
            <a:lvl7pPr marL="914400" algn="l" rtl="0" fontAlgn="base">
              <a:spcBef>
                <a:spcPct val="0"/>
              </a:spcBef>
              <a:spcAft>
                <a:spcPct val="0"/>
              </a:spcAft>
              <a:defRPr sz="3200" b="1">
                <a:solidFill>
                  <a:schemeClr val="tx2"/>
                </a:solidFill>
                <a:latin typeface="Myriad Web Pro" pitchFamily="34" charset="0"/>
              </a:defRPr>
            </a:lvl7pPr>
            <a:lvl8pPr marL="1371600" algn="l" rtl="0" fontAlgn="base">
              <a:spcBef>
                <a:spcPct val="0"/>
              </a:spcBef>
              <a:spcAft>
                <a:spcPct val="0"/>
              </a:spcAft>
              <a:defRPr sz="3200" b="1">
                <a:solidFill>
                  <a:schemeClr val="tx2"/>
                </a:solidFill>
                <a:latin typeface="Myriad Web Pro" pitchFamily="34" charset="0"/>
              </a:defRPr>
            </a:lvl8pPr>
            <a:lvl9pPr marL="1828800" algn="l" rtl="0" fontAlgn="base">
              <a:spcBef>
                <a:spcPct val="0"/>
              </a:spcBef>
              <a:spcAft>
                <a:spcPct val="0"/>
              </a:spcAft>
              <a:defRPr sz="3200" b="1">
                <a:solidFill>
                  <a:schemeClr val="tx2"/>
                </a:solidFill>
                <a:latin typeface="Myriad Web Pro" pitchFamily="34" charset="0"/>
              </a:defRPr>
            </a:lvl9pPr>
          </a:lstStyle>
          <a:p>
            <a:r>
              <a:rPr lang="en-US" altLang="en-US" kern="0" dirty="0">
                <a:latin typeface="Garamond" panose="02020404030301010803" pitchFamily="18" charset="0"/>
              </a:rPr>
              <a:t>HR Pointers </a:t>
            </a:r>
          </a:p>
        </p:txBody>
      </p:sp>
      <p:pic>
        <p:nvPicPr>
          <p:cNvPr id="2" name="Picture 1">
            <a:extLst>
              <a:ext uri="{FF2B5EF4-FFF2-40B4-BE49-F238E27FC236}">
                <a16:creationId xmlns:a16="http://schemas.microsoft.com/office/drawing/2014/main" id="{5ADBFC48-334C-D5C5-4929-5219BA5F6A64}"/>
              </a:ext>
            </a:extLst>
          </p:cNvPr>
          <p:cNvPicPr>
            <a:picLocks noChangeAspect="1"/>
          </p:cNvPicPr>
          <p:nvPr/>
        </p:nvPicPr>
        <p:blipFill>
          <a:blip r:embed="rId2"/>
          <a:stretch>
            <a:fillRect/>
          </a:stretch>
        </p:blipFill>
        <p:spPr>
          <a:xfrm>
            <a:off x="537882" y="778527"/>
            <a:ext cx="7785847" cy="5608825"/>
          </a:xfrm>
          <a:prstGeom prst="rect">
            <a:avLst/>
          </a:prstGeom>
        </p:spPr>
      </p:pic>
    </p:spTree>
    <p:extLst>
      <p:ext uri="{BB962C8B-B14F-4D97-AF65-F5344CB8AC3E}">
        <p14:creationId xmlns:p14="http://schemas.microsoft.com/office/powerpoint/2010/main" val="2838433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F15B314-64EC-7996-7053-BF6868CC163F}"/>
              </a:ext>
            </a:extLst>
          </p:cNvPr>
          <p:cNvSpPr>
            <a:spLocks noGrp="1"/>
          </p:cNvSpPr>
          <p:nvPr>
            <p:ph type="sldNum" sz="quarter" idx="4"/>
          </p:nvPr>
        </p:nvSpPr>
        <p:spPr/>
        <p:txBody>
          <a:bodyPr/>
          <a:lstStyle/>
          <a:p>
            <a:r>
              <a:rPr lang="en-US"/>
              <a:t>www.redcross.or.ke</a:t>
            </a:r>
            <a:endParaRPr lang="en-US" dirty="0"/>
          </a:p>
        </p:txBody>
      </p:sp>
      <p:sp>
        <p:nvSpPr>
          <p:cNvPr id="2" name="Text Box 4">
            <a:extLst>
              <a:ext uri="{FF2B5EF4-FFF2-40B4-BE49-F238E27FC236}">
                <a16:creationId xmlns:a16="http://schemas.microsoft.com/office/drawing/2014/main" id="{5C9D12FC-C6AB-38D0-2B9B-E918C19739F9}"/>
              </a:ext>
            </a:extLst>
          </p:cNvPr>
          <p:cNvSpPr txBox="1">
            <a:spLocks noChangeArrowheads="1"/>
          </p:cNvSpPr>
          <p:nvPr/>
        </p:nvSpPr>
        <p:spPr bwMode="auto">
          <a:xfrm>
            <a:off x="2151529" y="2228671"/>
            <a:ext cx="4504765"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pPr>
            <a:r>
              <a:rPr lang="en-US" altLang="en-US" sz="6000" b="1" dirty="0">
                <a:solidFill>
                  <a:srgbClr val="000000"/>
                </a:solidFill>
                <a:latin typeface="Times New Roman" panose="02020603050405020304" pitchFamily="18" charset="0"/>
                <a:cs typeface="Times New Roman" panose="02020603050405020304" pitchFamily="18" charset="0"/>
              </a:rPr>
              <a:t>Thank</a:t>
            </a:r>
          </a:p>
          <a:p>
            <a:pPr algn="ctr" fontAlgn="base">
              <a:spcBef>
                <a:spcPct val="50000"/>
              </a:spcBef>
              <a:spcAft>
                <a:spcPct val="0"/>
              </a:spcAft>
            </a:pPr>
            <a:r>
              <a:rPr lang="en-US" altLang="en-US" sz="6000" b="1" dirty="0">
                <a:solidFill>
                  <a:srgbClr val="000000"/>
                </a:solidFill>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272875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0" fill="hold"/>
                                        <p:tgtEl>
                                          <p:spTgt spid="2">
                                            <p:txEl>
                                              <p:pRg st="0" end="0"/>
                                            </p:txEl>
                                          </p:spTgt>
                                        </p:tgtEl>
                                        <p:attrNameLst>
                                          <p:attrName>ppt_x</p:attrName>
                                        </p:attrNameLst>
                                      </p:cBhvr>
                                      <p:tavLst>
                                        <p:tav tm="0">
                                          <p:val>
                                            <p:strVal val="1+#ppt_w/2"/>
                                          </p:val>
                                        </p:tav>
                                        <p:tav tm="100000">
                                          <p:val>
                                            <p:strVal val="#ppt_x"/>
                                          </p:val>
                                        </p:tav>
                                      </p:tavLst>
                                    </p:anim>
                                    <p:anim calcmode="lin" valueType="num">
                                      <p:cBhvr additive="base">
                                        <p:cTn id="8" dur="5000" fill="hold"/>
                                        <p:tgtEl>
                                          <p:spTgt spid="2">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0" fill="hold"/>
                                        <p:tgtEl>
                                          <p:spTgt spid="2">
                                            <p:txEl>
                                              <p:pRg st="1" end="1"/>
                                            </p:txEl>
                                          </p:spTgt>
                                        </p:tgtEl>
                                        <p:attrNameLst>
                                          <p:attrName>ppt_x</p:attrName>
                                        </p:attrNameLst>
                                      </p:cBhvr>
                                      <p:tavLst>
                                        <p:tav tm="0">
                                          <p:val>
                                            <p:strVal val="1+#ppt_w/2"/>
                                          </p:val>
                                        </p:tav>
                                        <p:tav tm="100000">
                                          <p:val>
                                            <p:strVal val="#ppt_x"/>
                                          </p:val>
                                        </p:tav>
                                      </p:tavLst>
                                    </p:anim>
                                    <p:anim calcmode="lin" valueType="num">
                                      <p:cBhvr additive="base">
                                        <p:cTn id="14" dur="5000" fill="hold"/>
                                        <p:tgtEl>
                                          <p:spTgt spid="2">
                                            <p:txEl>
                                              <p:pRg st="1" end="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25498</TotalTime>
  <Words>208</Words>
  <Application>Microsoft Office PowerPoint</Application>
  <PresentationFormat>On-screen Show (4:3)</PresentationFormat>
  <Paragraphs>45</Paragraphs>
  <Slides>7</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Calibri</vt:lpstr>
      <vt:lpstr>Garamond</vt:lpstr>
      <vt:lpstr>Montserrat</vt:lpstr>
      <vt:lpstr>Times New Roman</vt:lpstr>
      <vt:lpstr>Wingdings</vt:lpstr>
      <vt:lpstr>Wingdings 3</vt:lpstr>
      <vt:lpstr>Office Theme</vt:lpstr>
      <vt:lpstr>Custom Design</vt:lpstr>
      <vt:lpstr>KRCS HR Staff Meeting  April 2026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Grace auma</cp:lastModifiedBy>
  <cp:revision>103</cp:revision>
  <dcterms:created xsi:type="dcterms:W3CDTF">2022-07-13T12:02:49Z</dcterms:created>
  <dcterms:modified xsi:type="dcterms:W3CDTF">2026-04-07T08:09:10Z</dcterms:modified>
</cp:coreProperties>
</file>